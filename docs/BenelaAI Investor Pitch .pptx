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8" d="100"/>
          <a:sy n="158" d="100"/>
        </p:scale>
        <p:origin x="5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888888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888888"/>
                </a:solidFill>
                <a:latin typeface="Arial"/>
              </a:rPr>
              <a:t>MRR Growth ($USD)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Recurring Revenue ($)</c:v>
                </c:pt>
              </c:strCache>
            </c:strRef>
          </c:tx>
          <c:spPr>
            <a:solidFill>
              <a:srgbClr val="7C6AFF"/>
            </a:solidFill>
            <a:effectLst/>
          </c:spPr>
          <c:invertIfNegative val="0"/>
          <c:cat>
            <c:strRef>
              <c:f>Sheet1!$A$2:$A$15</c:f>
              <c:strCache>
                <c:ptCount val="14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  <c:pt idx="6">
                  <c:v>M7</c:v>
                </c:pt>
                <c:pt idx="7">
                  <c:v>M8</c:v>
                </c:pt>
                <c:pt idx="8">
                  <c:v>M9</c:v>
                </c:pt>
                <c:pt idx="9">
                  <c:v>M10</c:v>
                </c:pt>
                <c:pt idx="10">
                  <c:v>M11</c:v>
                </c:pt>
                <c:pt idx="11">
                  <c:v>M12</c:v>
                </c:pt>
                <c:pt idx="12">
                  <c:v>M18</c:v>
                </c:pt>
                <c:pt idx="13">
                  <c:v>M24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0</c:v>
                </c:pt>
                <c:pt idx="1">
                  <c:v>490</c:v>
                </c:pt>
                <c:pt idx="2">
                  <c:v>1470</c:v>
                </c:pt>
                <c:pt idx="3">
                  <c:v>2940</c:v>
                </c:pt>
                <c:pt idx="4">
                  <c:v>4900</c:v>
                </c:pt>
                <c:pt idx="5">
                  <c:v>7350</c:v>
                </c:pt>
                <c:pt idx="6">
                  <c:v>9310</c:v>
                </c:pt>
                <c:pt idx="7">
                  <c:v>11270</c:v>
                </c:pt>
                <c:pt idx="8">
                  <c:v>13720</c:v>
                </c:pt>
                <c:pt idx="9">
                  <c:v>16170</c:v>
                </c:pt>
                <c:pt idx="10">
                  <c:v>18620</c:v>
                </c:pt>
                <c:pt idx="11">
                  <c:v>21560</c:v>
                </c:pt>
                <c:pt idx="12">
                  <c:v>42000</c:v>
                </c:pt>
                <c:pt idx="13">
                  <c:v>89000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59-CF4E-A67B-C65D055783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C1C1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88888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D0D0D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4450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023360" y="96012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kern="0" spc="800" dirty="0">
                <a:solidFill>
                  <a:srgbClr val="F0F0F5"/>
                </a:solidFill>
                <a:latin typeface="SF Pro Heavy" pitchFamily="2" charset="0"/>
                <a:ea typeface="SF Pro Heavy" pitchFamily="2" charset="0"/>
                <a:cs typeface="SF Pro Heavy" pitchFamily="2" charset="0"/>
              </a:rPr>
              <a:t>BENELA</a:t>
            </a:r>
            <a:r>
              <a:rPr lang="en-US" sz="5200" b="1" kern="0" spc="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A89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Enterprise ERP Built for the AI Era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474720" y="3337560"/>
            <a:ext cx="2194560" cy="27432"/>
          </a:xfrm>
          <a:prstGeom prst="rect">
            <a:avLst/>
          </a:prstGeom>
          <a:solidFill>
            <a:srgbClr val="7C6AFF"/>
          </a:solidFill>
          <a:ln w="12700">
            <a:solidFill>
              <a:srgbClr val="7C6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8" name="Text 6"/>
          <p:cNvSpPr/>
          <p:nvPr/>
        </p:nvSpPr>
        <p:spPr>
          <a:xfrm>
            <a:off x="914400" y="34564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AI-Powered Modules  ·  Full ERP  ·  Built for Central Asia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17520" y="3931920"/>
            <a:ext cx="3108960" cy="502920"/>
          </a:xfrm>
          <a:prstGeom prst="rect">
            <a:avLst/>
          </a:prstGeom>
          <a:solidFill>
            <a:srgbClr val="4F3DE8"/>
          </a:solidFill>
          <a:ln w="12700">
            <a:solidFill>
              <a:srgbClr val="7C6AFF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10" name="Text 8"/>
          <p:cNvSpPr/>
          <p:nvPr/>
        </p:nvSpPr>
        <p:spPr>
          <a:xfrm>
            <a:off x="3017520" y="39319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Seeking $50,000 – $100,000 Seed Investment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0" y="48463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2025  ·  benela.dev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6AFF"/>
          </a:solidFill>
          <a:ln w="12700">
            <a:solidFill>
              <a:srgbClr val="7C6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Uzbek businesses are stuck with legacy tools that don't speak their language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560320" cy="1371600"/>
          </a:xfrm>
          <a:prstGeom prst="rect">
            <a:avLst/>
          </a:prstGeom>
          <a:solidFill>
            <a:srgbClr val="0D0D0D"/>
          </a:solidFill>
          <a:ln w="12700">
            <a:solidFill>
              <a:srgbClr val="F87171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54864" cy="13716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Uzbek SMEs use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or paper-based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560320" cy="1371600"/>
          </a:xfrm>
          <a:prstGeom prst="rect">
            <a:avLst/>
          </a:prstGeom>
          <a:solidFill>
            <a:srgbClr val="0D0D0D"/>
          </a:solidFill>
          <a:ln w="12700">
            <a:solidFill>
              <a:srgbClr val="FBBF24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54864" cy="13716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1" name="Text 9"/>
          <p:cNvSpPr/>
          <p:nvPr/>
        </p:nvSpPr>
        <p:spPr>
          <a:xfrm>
            <a:off x="3337560" y="10515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$2.1B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3337560" y="1828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annually to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inefficiencies 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Asian enterprises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1005840"/>
            <a:ext cx="2560320" cy="1371600"/>
          </a:xfrm>
          <a:prstGeom prst="rect">
            <a:avLst/>
          </a:prstGeom>
          <a:solidFill>
            <a:srgbClr val="0D0D0D"/>
          </a:solidFill>
          <a:ln w="12700">
            <a:solidFill>
              <a:srgbClr val="60A5FA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14" name="Shape 12"/>
          <p:cNvSpPr/>
          <p:nvPr/>
        </p:nvSpPr>
        <p:spPr>
          <a:xfrm>
            <a:off x="6035040" y="1005840"/>
            <a:ext cx="54864" cy="13716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5" name="Text 13"/>
          <p:cNvSpPr/>
          <p:nvPr/>
        </p:nvSpPr>
        <p:spPr>
          <a:xfrm>
            <a:off x="6172200" y="10515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6172200" y="1828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cost of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importing SAP/Oracle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local GDP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560320"/>
            <a:ext cx="8412480" cy="2286000"/>
          </a:xfrm>
          <a:prstGeom prst="rect">
            <a:avLst/>
          </a:prstGeom>
          <a:solidFill>
            <a:srgbClr val="0D0D0D"/>
          </a:solidFill>
          <a:ln w="12700">
            <a:solidFill>
              <a:srgbClr val="1C1C1C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18" name="Text 16"/>
          <p:cNvSpPr/>
          <p:nvPr/>
        </p:nvSpPr>
        <p:spPr>
          <a:xfrm>
            <a:off x="54864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Pain Points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3090672"/>
            <a:ext cx="182880" cy="182880"/>
          </a:xfrm>
          <a:prstGeom prst="lin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0" name="Text 18"/>
          <p:cNvSpPr/>
          <p:nvPr/>
        </p:nvSpPr>
        <p:spPr>
          <a:xfrm>
            <a:off x="777240" y="30175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local language support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&amp; Oracle are English/Russian only — no Uzbek interface or legal compliance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3730752"/>
            <a:ext cx="182880" cy="182880"/>
          </a:xfrm>
          <a:prstGeom prst="lin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3" name="Text 21"/>
          <p:cNvSpPr/>
          <p:nvPr/>
        </p:nvSpPr>
        <p:spPr>
          <a:xfrm>
            <a:off x="777240" y="3657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pricing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3886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Business One costs $50K+/year — unaffordable for 99% of Uzbek companies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17720" y="3090672"/>
            <a:ext cx="182880" cy="182880"/>
          </a:xfrm>
          <a:prstGeom prst="lin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6" name="Text 24"/>
          <p:cNvSpPr/>
          <p:nvPr/>
        </p:nvSpPr>
        <p:spPr>
          <a:xfrm>
            <a:off x="4892040" y="30175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AI integration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204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ERPs have no AI copilot, no automation, no intelligent recommendations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17720" y="3730752"/>
            <a:ext cx="182880" cy="182880"/>
          </a:xfrm>
          <a:prstGeom prst="lin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9" name="Text 27"/>
          <p:cNvSpPr/>
          <p:nvPr/>
        </p:nvSpPr>
        <p:spPr>
          <a:xfrm>
            <a:off x="4892040" y="3657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tools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92040" y="3886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juggle 5-8 separate tools: 1C, Excel, Telegram, manual HR sheets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6AFF"/>
          </a:solidFill>
          <a:ln w="12700">
            <a:solidFill>
              <a:srgbClr val="7C6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9 modules. AI in everything.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89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Benela AI is the first AI-native Enterprise ERP designed specifically for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A89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Uzbekistan and Central Asia — built, priced, and spoken for local businesses.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2651760" cy="914400"/>
          </a:xfrm>
          <a:prstGeom prst="rect">
            <a:avLst/>
          </a:prstGeom>
          <a:solidFill>
            <a:srgbClr val="0D0D0D"/>
          </a:solidFill>
          <a:ln w="12700">
            <a:solidFill>
              <a:srgbClr val="34D399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54864" cy="9144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8" name="Text 6"/>
          <p:cNvSpPr/>
          <p:nvPr/>
        </p:nvSpPr>
        <p:spPr>
          <a:xfrm>
            <a:off x="530352" y="17556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2084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P&amp;L, invoicing, cash flow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0" y="1737360"/>
            <a:ext cx="164592" cy="164592"/>
          </a:xfrm>
          <a:prstGeom prst="lin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1" name="Shape 9"/>
          <p:cNvSpPr/>
          <p:nvPr/>
        </p:nvSpPr>
        <p:spPr>
          <a:xfrm>
            <a:off x="3200400" y="1645920"/>
            <a:ext cx="2651760" cy="914400"/>
          </a:xfrm>
          <a:prstGeom prst="rect">
            <a:avLst/>
          </a:prstGeom>
          <a:solidFill>
            <a:srgbClr val="0D0D0D"/>
          </a:solidFill>
          <a:ln w="12700">
            <a:solidFill>
              <a:srgbClr val="60A5FA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12" name="Shape 10"/>
          <p:cNvSpPr/>
          <p:nvPr/>
        </p:nvSpPr>
        <p:spPr>
          <a:xfrm>
            <a:off x="3200400" y="1645920"/>
            <a:ext cx="54864" cy="9144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3" name="Text 11"/>
          <p:cNvSpPr/>
          <p:nvPr/>
        </p:nvSpPr>
        <p:spPr>
          <a:xfrm>
            <a:off x="3364992" y="17556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&amp; People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64992" y="2084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Payroll, hiring, attendance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1737360"/>
            <a:ext cx="164592" cy="164592"/>
          </a:xfrm>
          <a:prstGeom prst="lin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6" name="Shape 14"/>
          <p:cNvSpPr/>
          <p:nvPr/>
        </p:nvSpPr>
        <p:spPr>
          <a:xfrm>
            <a:off x="6035040" y="1645920"/>
            <a:ext cx="2651760" cy="914400"/>
          </a:xfrm>
          <a:prstGeom prst="rect">
            <a:avLst/>
          </a:prstGeom>
          <a:solidFill>
            <a:srgbClr val="0D0D0D"/>
          </a:solidFill>
          <a:ln w="12700">
            <a:solidFill>
              <a:srgbClr val="7C6A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17" name="Shape 15"/>
          <p:cNvSpPr/>
          <p:nvPr/>
        </p:nvSpPr>
        <p:spPr>
          <a:xfrm>
            <a:off x="6035040" y="1645920"/>
            <a:ext cx="54864" cy="914400"/>
          </a:xfrm>
          <a:prstGeom prst="rect">
            <a:avLst/>
          </a:prstGeom>
          <a:solidFill>
            <a:srgbClr val="7C6AFF"/>
          </a:solidFill>
          <a:ln w="12700">
            <a:solidFill>
              <a:srgbClr val="7C6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8" name="Text 16"/>
          <p:cNvSpPr/>
          <p:nvPr/>
        </p:nvSpPr>
        <p:spPr>
          <a:xfrm>
            <a:off x="6199632" y="17556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99632" y="2084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Kanban, tasks, milestones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412480" y="1737360"/>
            <a:ext cx="164592" cy="164592"/>
          </a:xfrm>
          <a:prstGeom prst="line">
            <a:avLst/>
          </a:prstGeom>
          <a:solidFill>
            <a:srgbClr val="7C6AFF"/>
          </a:solidFill>
          <a:ln w="12700">
            <a:solidFill>
              <a:srgbClr val="7C6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1" name="Shape 19"/>
          <p:cNvSpPr/>
          <p:nvPr/>
        </p:nvSpPr>
        <p:spPr>
          <a:xfrm>
            <a:off x="365760" y="2697480"/>
            <a:ext cx="2651760" cy="914400"/>
          </a:xfrm>
          <a:prstGeom prst="rect">
            <a:avLst/>
          </a:prstGeom>
          <a:solidFill>
            <a:srgbClr val="0D0D0D"/>
          </a:solidFill>
          <a:ln w="12700">
            <a:solidFill>
              <a:srgbClr val="FBBF24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22" name="Shape 20"/>
          <p:cNvSpPr/>
          <p:nvPr/>
        </p:nvSpPr>
        <p:spPr>
          <a:xfrm>
            <a:off x="365760" y="2697480"/>
            <a:ext cx="54864" cy="9144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3" name="Text 21"/>
          <p:cNvSpPr/>
          <p:nvPr/>
        </p:nvSpPr>
        <p:spPr>
          <a:xfrm>
            <a:off x="530352" y="2807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CRM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0352" y="31363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Pipeline, deals, forecasts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0" y="2788920"/>
            <a:ext cx="164592" cy="164592"/>
          </a:xfrm>
          <a:prstGeom prst="lin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6" name="Shape 24"/>
          <p:cNvSpPr/>
          <p:nvPr/>
        </p:nvSpPr>
        <p:spPr>
          <a:xfrm>
            <a:off x="3200400" y="2697480"/>
            <a:ext cx="2651760" cy="914400"/>
          </a:xfrm>
          <a:prstGeom prst="rect">
            <a:avLst/>
          </a:prstGeom>
          <a:solidFill>
            <a:srgbClr val="0D0D0D"/>
          </a:solidFill>
          <a:ln w="12700">
            <a:solidFill>
              <a:srgbClr val="60A5FA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27" name="Shape 25"/>
          <p:cNvSpPr/>
          <p:nvPr/>
        </p:nvSpPr>
        <p:spPr>
          <a:xfrm>
            <a:off x="3200400" y="2697480"/>
            <a:ext cx="54864" cy="9144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8" name="Text 26"/>
          <p:cNvSpPr/>
          <p:nvPr/>
        </p:nvSpPr>
        <p:spPr>
          <a:xfrm>
            <a:off x="3364992" y="2807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64992" y="31363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Tickets, SLA, helpdesk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577840" y="2788920"/>
            <a:ext cx="164592" cy="164592"/>
          </a:xfrm>
          <a:prstGeom prst="lin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1" name="Shape 29"/>
          <p:cNvSpPr/>
          <p:nvPr/>
        </p:nvSpPr>
        <p:spPr>
          <a:xfrm>
            <a:off x="6035040" y="2697480"/>
            <a:ext cx="2651760" cy="914400"/>
          </a:xfrm>
          <a:prstGeom prst="rect">
            <a:avLst/>
          </a:prstGeom>
          <a:solidFill>
            <a:srgbClr val="0D0D0D"/>
          </a:solidFill>
          <a:ln w="12700">
            <a:solidFill>
              <a:srgbClr val="F87171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32" name="Shape 30"/>
          <p:cNvSpPr/>
          <p:nvPr/>
        </p:nvSpPr>
        <p:spPr>
          <a:xfrm>
            <a:off x="6035040" y="2697480"/>
            <a:ext cx="54864" cy="9144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3" name="Text 31"/>
          <p:cNvSpPr/>
          <p:nvPr/>
        </p:nvSpPr>
        <p:spPr>
          <a:xfrm>
            <a:off x="6199632" y="2807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199632" y="31363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Contracts, lex.uz data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412480" y="2788920"/>
            <a:ext cx="164592" cy="164592"/>
          </a:xfrm>
          <a:prstGeom prst="lin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6" name="Shape 34"/>
          <p:cNvSpPr/>
          <p:nvPr/>
        </p:nvSpPr>
        <p:spPr>
          <a:xfrm>
            <a:off x="365760" y="3749040"/>
            <a:ext cx="2651760" cy="914400"/>
          </a:xfrm>
          <a:prstGeom prst="rect">
            <a:avLst/>
          </a:prstGeom>
          <a:solidFill>
            <a:srgbClr val="0D0D0D"/>
          </a:solidFill>
          <a:ln w="12700">
            <a:solidFill>
              <a:srgbClr val="A89A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37" name="Shape 35"/>
          <p:cNvSpPr/>
          <p:nvPr/>
        </p:nvSpPr>
        <p:spPr>
          <a:xfrm>
            <a:off x="365760" y="3749040"/>
            <a:ext cx="54864" cy="914400"/>
          </a:xfrm>
          <a:prstGeom prst="rect">
            <a:avLst/>
          </a:prstGeom>
          <a:solidFill>
            <a:srgbClr val="A89AFF"/>
          </a:solidFill>
          <a:ln w="12700">
            <a:solidFill>
              <a:srgbClr val="A89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8" name="Text 36"/>
          <p:cNvSpPr/>
          <p:nvPr/>
        </p:nvSpPr>
        <p:spPr>
          <a:xfrm>
            <a:off x="530352" y="38587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30352" y="4187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Campaigns, ROI, channels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0" y="3840480"/>
            <a:ext cx="164592" cy="164592"/>
          </a:xfrm>
          <a:prstGeom prst="line">
            <a:avLst/>
          </a:prstGeom>
          <a:solidFill>
            <a:srgbClr val="A89AFF"/>
          </a:solidFill>
          <a:ln w="12700">
            <a:solidFill>
              <a:srgbClr val="A89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1" name="Shape 39"/>
          <p:cNvSpPr/>
          <p:nvPr/>
        </p:nvSpPr>
        <p:spPr>
          <a:xfrm>
            <a:off x="3200400" y="3749040"/>
            <a:ext cx="2651760" cy="914400"/>
          </a:xfrm>
          <a:prstGeom prst="rect">
            <a:avLst/>
          </a:prstGeom>
          <a:solidFill>
            <a:srgbClr val="0D0D0D"/>
          </a:solidFill>
          <a:ln w="12700">
            <a:solidFill>
              <a:srgbClr val="34D399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42" name="Shape 40"/>
          <p:cNvSpPr/>
          <p:nvPr/>
        </p:nvSpPr>
        <p:spPr>
          <a:xfrm>
            <a:off x="3200400" y="3749040"/>
            <a:ext cx="54864" cy="9144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3" name="Text 41"/>
          <p:cNvSpPr/>
          <p:nvPr/>
        </p:nvSpPr>
        <p:spPr>
          <a:xfrm>
            <a:off x="3364992" y="38587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3364992" y="4187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Inventory, vendors, orders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577840" y="3840480"/>
            <a:ext cx="164592" cy="164592"/>
          </a:xfrm>
          <a:prstGeom prst="lin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6" name="Shape 44"/>
          <p:cNvSpPr/>
          <p:nvPr/>
        </p:nvSpPr>
        <p:spPr>
          <a:xfrm>
            <a:off x="6035040" y="3749040"/>
            <a:ext cx="2651760" cy="914400"/>
          </a:xfrm>
          <a:prstGeom prst="rect">
            <a:avLst/>
          </a:prstGeom>
          <a:solidFill>
            <a:srgbClr val="0D0D0D"/>
          </a:solidFill>
          <a:ln w="12700">
            <a:solidFill>
              <a:srgbClr val="FBBF24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47" name="Shape 45"/>
          <p:cNvSpPr/>
          <p:nvPr/>
        </p:nvSpPr>
        <p:spPr>
          <a:xfrm>
            <a:off x="6035040" y="3749040"/>
            <a:ext cx="54864" cy="9144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8" name="Text 46"/>
          <p:cNvSpPr/>
          <p:nvPr/>
        </p:nvSpPr>
        <p:spPr>
          <a:xfrm>
            <a:off x="6199632" y="38587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199632" y="4187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dashboards, analytics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412480" y="3840480"/>
            <a:ext cx="164592" cy="164592"/>
          </a:xfrm>
          <a:prstGeom prst="lin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51" name="Shape 49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4F3DE8"/>
          </a:solidFill>
          <a:ln w="12700">
            <a:solidFill>
              <a:srgbClr val="7C6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52" name="Text 50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9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AI Copilot embedded in every module — context-aware, data-driven, answers in Uzbek &amp; Russian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6AFF"/>
          </a:solidFill>
          <a:ln w="12700">
            <a:solidFill>
              <a:srgbClr val="7C6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$4.2B underserved market with no dominant local player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3749040"/>
          </a:xfrm>
          <a:prstGeom prst="rect">
            <a:avLst/>
          </a:prstGeom>
          <a:solidFill>
            <a:srgbClr val="1A1040"/>
          </a:solidFill>
          <a:ln w="25400">
            <a:solidFill>
              <a:srgbClr val="A89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3474720" cy="2926080"/>
          </a:xfrm>
          <a:prstGeom prst="rect">
            <a:avLst/>
          </a:prstGeom>
          <a:solidFill>
            <a:srgbClr val="0D1A30"/>
          </a:solidFill>
          <a:ln w="254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7" name="Shape 5"/>
          <p:cNvSpPr/>
          <p:nvPr/>
        </p:nvSpPr>
        <p:spPr>
          <a:xfrm>
            <a:off x="1005840" y="1965960"/>
            <a:ext cx="2651760" cy="1828800"/>
          </a:xfrm>
          <a:prstGeom prst="rect">
            <a:avLst/>
          </a:prstGeom>
          <a:solidFill>
            <a:srgbClr val="0A2218"/>
          </a:solidFill>
          <a:ln w="254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8" name="Text 6"/>
          <p:cNvSpPr/>
          <p:nvPr/>
        </p:nvSpPr>
        <p:spPr>
          <a:xfrm>
            <a:off x="347472" y="10789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89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 $4.2B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92460" y="112471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 Market — Central Asia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77650" y="15133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 $840M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856232" y="158648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Serviceable — 48,000 Uzbek SMEs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78992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 $42M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78992" y="2697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3-year target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2,000 paying customers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1005840"/>
            <a:ext cx="4206240" cy="1097280"/>
          </a:xfrm>
          <a:prstGeom prst="rect">
            <a:avLst/>
          </a:prstGeom>
          <a:solidFill>
            <a:srgbClr val="0D0D0D"/>
          </a:solidFill>
          <a:ln w="12700">
            <a:solidFill>
              <a:srgbClr val="7C6A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15" name="Shape 13"/>
          <p:cNvSpPr/>
          <p:nvPr/>
        </p:nvSpPr>
        <p:spPr>
          <a:xfrm>
            <a:off x="4572000" y="1005840"/>
            <a:ext cx="54864" cy="1097280"/>
          </a:xfrm>
          <a:prstGeom prst="rect">
            <a:avLst/>
          </a:prstGeom>
          <a:solidFill>
            <a:srgbClr val="7C6AFF"/>
          </a:solidFill>
          <a:ln w="12700">
            <a:solidFill>
              <a:srgbClr val="7C6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6" name="Text 14"/>
          <p:cNvSpPr/>
          <p:nvPr/>
        </p:nvSpPr>
        <p:spPr>
          <a:xfrm>
            <a:off x="4736592" y="10789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 —  Total Addressable Market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36592" y="135331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C6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$4.2B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989320" y="135331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ERP/business software spend across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Asia (UZ, KZ, KG, TJ, TM)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0" y="2240280"/>
            <a:ext cx="4206240" cy="1097280"/>
          </a:xfrm>
          <a:prstGeom prst="rect">
            <a:avLst/>
          </a:prstGeom>
          <a:solidFill>
            <a:srgbClr val="0D0D0D"/>
          </a:solidFill>
          <a:ln w="12700">
            <a:solidFill>
              <a:srgbClr val="60A5FA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20" name="Shape 18"/>
          <p:cNvSpPr/>
          <p:nvPr/>
        </p:nvSpPr>
        <p:spPr>
          <a:xfrm>
            <a:off x="4572000" y="2240280"/>
            <a:ext cx="54864" cy="109728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1" name="Text 19"/>
          <p:cNvSpPr/>
          <p:nvPr/>
        </p:nvSpPr>
        <p:spPr>
          <a:xfrm>
            <a:off x="4736592" y="23134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 —  Serviceable Addressable Market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36592" y="258775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$840M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989320" y="25877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and mid-market businesses in UZ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10–500 employees (≈ 48,000 companies)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0" y="3474720"/>
            <a:ext cx="4206240" cy="1097280"/>
          </a:xfrm>
          <a:prstGeom prst="rect">
            <a:avLst/>
          </a:prstGeom>
          <a:solidFill>
            <a:srgbClr val="0D0D0D"/>
          </a:solidFill>
          <a:ln w="12700">
            <a:solidFill>
              <a:srgbClr val="34D399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25" name="Shape 23"/>
          <p:cNvSpPr/>
          <p:nvPr/>
        </p:nvSpPr>
        <p:spPr>
          <a:xfrm>
            <a:off x="4572000" y="3474720"/>
            <a:ext cx="54864" cy="10972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6" name="Text 24"/>
          <p:cNvSpPr/>
          <p:nvPr/>
        </p:nvSpPr>
        <p:spPr>
          <a:xfrm>
            <a:off x="4736592" y="35478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 —  Serviceable Obtainable Market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36592" y="382219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$42M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5989320" y="382219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capture of SAM within 3 years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2,000 paying companies by 2027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Uzbekistan GDP growth: 6.2% (2024)  ·  IT sector growing 40% YoY  ·  2.1M registered businesses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6AFF"/>
          </a:solidFill>
          <a:ln w="12700">
            <a:solidFill>
              <a:srgbClr val="7C6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Benela AI sits in a white space no competitor occupies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589520" y="2743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6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8229600" cy="0"/>
          </a:xfrm>
          <a:prstGeom prst="line">
            <a:avLst/>
          </a:prstGeom>
          <a:noFill/>
          <a:ln w="12700">
            <a:solidFill>
              <a:srgbClr val="1C1C1C"/>
            </a:solidFill>
            <a:prstDash val="dash"/>
          </a:ln>
        </p:spPr>
        <p:txBody>
          <a:bodyPr/>
          <a:lstStyle/>
          <a:p>
            <a:endParaRPr lang="en-UZ"/>
          </a:p>
        </p:txBody>
      </p:sp>
      <p:sp>
        <p:nvSpPr>
          <p:cNvPr id="10" name="Shape 8"/>
          <p:cNvSpPr/>
          <p:nvPr/>
        </p:nvSpPr>
        <p:spPr>
          <a:xfrm>
            <a:off x="4572000" y="914400"/>
            <a:ext cx="0" cy="3886200"/>
          </a:xfrm>
          <a:prstGeom prst="line">
            <a:avLst/>
          </a:prstGeom>
          <a:noFill/>
          <a:ln w="12700">
            <a:solidFill>
              <a:srgbClr val="1C1C1C"/>
            </a:solidFill>
            <a:prstDash val="dash"/>
          </a:ln>
        </p:spPr>
        <p:txBody>
          <a:bodyPr/>
          <a:lstStyle/>
          <a:p>
            <a:endParaRPr lang="en-UZ"/>
          </a:p>
        </p:txBody>
      </p:sp>
      <p:sp>
        <p:nvSpPr>
          <p:cNvPr id="11" name="Shape 9"/>
          <p:cNvSpPr/>
          <p:nvPr/>
        </p:nvSpPr>
        <p:spPr>
          <a:xfrm>
            <a:off x="3086100" y="877824"/>
            <a:ext cx="777240" cy="582930"/>
          </a:xfrm>
          <a:prstGeom prst="line">
            <a:avLst/>
          </a:prstGeom>
          <a:solidFill>
            <a:srgbClr val="111111"/>
          </a:solidFill>
          <a:ln w="254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2" name="Text 10"/>
          <p:cNvSpPr/>
          <p:nvPr/>
        </p:nvSpPr>
        <p:spPr>
          <a:xfrm>
            <a:off x="2994660" y="877824"/>
            <a:ext cx="96012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034540" y="1143000"/>
            <a:ext cx="685800" cy="514350"/>
          </a:xfrm>
          <a:prstGeom prst="line">
            <a:avLst/>
          </a:prstGeom>
          <a:solidFill>
            <a:srgbClr val="111111"/>
          </a:solidFill>
          <a:ln w="254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4" name="Text 12"/>
          <p:cNvSpPr/>
          <p:nvPr/>
        </p:nvSpPr>
        <p:spPr>
          <a:xfrm>
            <a:off x="1943100" y="1143000"/>
            <a:ext cx="8686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82496" y="3028493"/>
            <a:ext cx="658368" cy="493776"/>
          </a:xfrm>
          <a:prstGeom prst="line">
            <a:avLst/>
          </a:prstGeom>
          <a:solidFill>
            <a:srgbClr val="111111"/>
          </a:solidFill>
          <a:ln w="254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6" name="Text 14"/>
          <p:cNvSpPr/>
          <p:nvPr/>
        </p:nvSpPr>
        <p:spPr>
          <a:xfrm>
            <a:off x="1591056" y="3028493"/>
            <a:ext cx="8412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1C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349240" y="1755648"/>
            <a:ext cx="640080" cy="480060"/>
          </a:xfrm>
          <a:prstGeom prst="line">
            <a:avLst/>
          </a:prstGeom>
          <a:solidFill>
            <a:srgbClr val="111111"/>
          </a:solidFill>
          <a:ln w="254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8" name="Text 16"/>
          <p:cNvSpPr/>
          <p:nvPr/>
        </p:nvSpPr>
        <p:spPr>
          <a:xfrm>
            <a:off x="5257800" y="1755648"/>
            <a:ext cx="8229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074420" y="3785616"/>
            <a:ext cx="594360" cy="445770"/>
          </a:xfrm>
          <a:prstGeom prst="line">
            <a:avLst/>
          </a:prstGeom>
          <a:solidFill>
            <a:srgbClr val="111111"/>
          </a:solidFill>
          <a:ln w="254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0" name="Text 18"/>
          <p:cNvSpPr/>
          <p:nvPr/>
        </p:nvSpPr>
        <p:spPr>
          <a:xfrm>
            <a:off x="982980" y="3785616"/>
            <a:ext cx="77724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Excel/Manual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926080" y="3621024"/>
            <a:ext cx="548640" cy="411480"/>
          </a:xfrm>
          <a:prstGeom prst="line">
            <a:avLst/>
          </a:prstGeom>
          <a:solidFill>
            <a:srgbClr val="111111"/>
          </a:solidFill>
          <a:ln w="254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2" name="Text 20"/>
          <p:cNvSpPr/>
          <p:nvPr/>
        </p:nvSpPr>
        <p:spPr>
          <a:xfrm>
            <a:off x="2834640" y="3621024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675120" y="3474720"/>
            <a:ext cx="1280160" cy="914400"/>
          </a:xfrm>
          <a:prstGeom prst="line">
            <a:avLst/>
          </a:prstGeom>
          <a:solidFill>
            <a:srgbClr val="7C6AFF">
              <a:alpha val="70000"/>
            </a:srgbClr>
          </a:solidFill>
          <a:ln w="25400">
            <a:solidFill>
              <a:srgbClr val="7C6AFF"/>
            </a:solidFill>
            <a:prstDash val="solid"/>
          </a:ln>
          <a:effectLst>
            <a:outerShdw blurRad="254000" dist="50800" dir="8100000" algn="bl" rotWithShape="0">
              <a:srgbClr val="7C6AFF">
                <a:alpha val="7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24" name="Text 22"/>
          <p:cNvSpPr/>
          <p:nvPr/>
        </p:nvSpPr>
        <p:spPr>
          <a:xfrm>
            <a:off x="6675120" y="34747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BENELA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617720"/>
            <a:ext cx="8412480" cy="411480"/>
          </a:xfrm>
          <a:prstGeom prst="rect">
            <a:avLst/>
          </a:prstGeom>
          <a:solidFill>
            <a:srgbClr val="0D0D0D"/>
          </a:solidFill>
          <a:ln w="12700">
            <a:solidFill>
              <a:srgbClr val="7C6A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26" name="Shape 24"/>
          <p:cNvSpPr/>
          <p:nvPr/>
        </p:nvSpPr>
        <p:spPr>
          <a:xfrm>
            <a:off x="365760" y="4617720"/>
            <a:ext cx="54864" cy="411480"/>
          </a:xfrm>
          <a:prstGeom prst="rect">
            <a:avLst/>
          </a:prstGeom>
          <a:solidFill>
            <a:srgbClr val="7C6AFF"/>
          </a:solidFill>
          <a:ln w="12700">
            <a:solidFill>
              <a:srgbClr val="7C6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7" name="Text 25"/>
          <p:cNvSpPr/>
          <p:nvPr/>
        </p:nvSpPr>
        <p:spPr>
          <a:xfrm>
            <a:off x="502920" y="463600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9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Benela AI Advantage:  AI-native  ·  Built for Uzbekistan  ·  Uzbek/Russian language  ·  Local legal compliance (lex.uz)  ·  Priced for local market  ·  $49/mo vs $4,000/mo SAP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6AFF"/>
          </a:solidFill>
          <a:ln w="12700">
            <a:solidFill>
              <a:srgbClr val="7C6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Deep Dive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powered by real data + Claude AI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1188720"/>
          </a:xfrm>
          <a:prstGeom prst="rect">
            <a:avLst/>
          </a:prstGeom>
          <a:solidFill>
            <a:srgbClr val="0D0D0D"/>
          </a:solidFill>
          <a:ln w="12700">
            <a:solidFill>
              <a:srgbClr val="7C6A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54864" cy="1188720"/>
          </a:xfrm>
          <a:prstGeom prst="rect">
            <a:avLst/>
          </a:prstGeom>
          <a:solidFill>
            <a:srgbClr val="7C6AFF"/>
          </a:solidFill>
          <a:ln w="12700">
            <a:solidFill>
              <a:srgbClr val="7C6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7" name="Text 5"/>
          <p:cNvSpPr/>
          <p:nvPr/>
        </p:nvSpPr>
        <p:spPr>
          <a:xfrm>
            <a:off x="530352" y="1115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 in Every Module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41732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anything in Uzbek or Russian. Get answers from your real data — not generic advice. Powered by Anthropic Claude.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023360" cy="1188720"/>
          </a:xfrm>
          <a:prstGeom prst="rect">
            <a:avLst/>
          </a:prstGeom>
          <a:solidFill>
            <a:srgbClr val="0D0D0D"/>
          </a:solidFill>
          <a:ln w="12700">
            <a:solidFill>
              <a:srgbClr val="34D399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54864" cy="1188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1" name="Text 9"/>
          <p:cNvSpPr/>
          <p:nvPr/>
        </p:nvSpPr>
        <p:spPr>
          <a:xfrm>
            <a:off x="4828032" y="1115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Finance Intelligence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28032" y="141732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P&amp;L, cash flow forecasting, overdue invoice alerts, tax compliance with Uzbek tax law.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331720"/>
            <a:ext cx="4023360" cy="1188720"/>
          </a:xfrm>
          <a:prstGeom prst="rect">
            <a:avLst/>
          </a:prstGeom>
          <a:solidFill>
            <a:srgbClr val="0D0D0D"/>
          </a:solidFill>
          <a:ln w="12700">
            <a:solidFill>
              <a:srgbClr val="60A5FA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14" name="Shape 12"/>
          <p:cNvSpPr/>
          <p:nvPr/>
        </p:nvSpPr>
        <p:spPr>
          <a:xfrm>
            <a:off x="365760" y="2331720"/>
            <a:ext cx="54864" cy="11887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5" name="Text 13"/>
          <p:cNvSpPr/>
          <p:nvPr/>
        </p:nvSpPr>
        <p:spPr>
          <a:xfrm>
            <a:off x="530352" y="2441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HR Management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0352" y="274320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lifecycle, payroll, leave tracking, org chart — all in one place with AI hiring suggestions.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2331720"/>
            <a:ext cx="4023360" cy="1188720"/>
          </a:xfrm>
          <a:prstGeom prst="rect">
            <a:avLst/>
          </a:prstGeom>
          <a:solidFill>
            <a:srgbClr val="0D0D0D"/>
          </a:solidFill>
          <a:ln w="12700">
            <a:solidFill>
              <a:srgbClr val="F87171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18" name="Shape 16"/>
          <p:cNvSpPr/>
          <p:nvPr/>
        </p:nvSpPr>
        <p:spPr>
          <a:xfrm>
            <a:off x="4663440" y="2331720"/>
            <a:ext cx="54864" cy="11887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9" name="Text 17"/>
          <p:cNvSpPr/>
          <p:nvPr/>
        </p:nvSpPr>
        <p:spPr>
          <a:xfrm>
            <a:off x="4828032" y="2441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lex.uz Legal Integration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28032" y="274320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feature: Automatically crawls and indexes all Uzbek legislation. AI answers legal questions using real laws.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657600"/>
            <a:ext cx="4023360" cy="1188720"/>
          </a:xfrm>
          <a:prstGeom prst="rect">
            <a:avLst/>
          </a:prstGeom>
          <a:solidFill>
            <a:srgbClr val="0D0D0D"/>
          </a:solidFill>
          <a:ln w="12700">
            <a:solidFill>
              <a:srgbClr val="FBBF24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22" name="Shape 20"/>
          <p:cNvSpPr/>
          <p:nvPr/>
        </p:nvSpPr>
        <p:spPr>
          <a:xfrm>
            <a:off x="365760" y="3657600"/>
            <a:ext cx="54864" cy="11887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3" name="Text 21"/>
          <p:cNvSpPr/>
          <p:nvPr/>
        </p:nvSpPr>
        <p:spPr>
          <a:xfrm>
            <a:off x="530352" y="3767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Projects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" y="406908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project management with drag-and-drop kanban boards, task assignments, deadlines, team collaboration.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3657600"/>
            <a:ext cx="4023360" cy="1188720"/>
          </a:xfrm>
          <a:prstGeom prst="rect">
            <a:avLst/>
          </a:prstGeom>
          <a:solidFill>
            <a:srgbClr val="0D0D0D"/>
          </a:solidFill>
          <a:ln w="12700">
            <a:solidFill>
              <a:srgbClr val="A89A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26" name="Shape 24"/>
          <p:cNvSpPr/>
          <p:nvPr/>
        </p:nvSpPr>
        <p:spPr>
          <a:xfrm>
            <a:off x="4663440" y="3657600"/>
            <a:ext cx="54864" cy="1188720"/>
          </a:xfrm>
          <a:prstGeom prst="rect">
            <a:avLst/>
          </a:prstGeom>
          <a:solidFill>
            <a:srgbClr val="A89AFF"/>
          </a:solidFill>
          <a:ln w="12700">
            <a:solidFill>
              <a:srgbClr val="A89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7" name="Text 25"/>
          <p:cNvSpPr/>
          <p:nvPr/>
        </p:nvSpPr>
        <p:spPr>
          <a:xfrm>
            <a:off x="4828032" y="3767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Admin Dashboard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28032" y="406908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platform management — client onboarding, subscription billing, notifications, MRR analytics.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6AFF"/>
          </a:solidFill>
          <a:ln w="12700">
            <a:solidFill>
              <a:srgbClr val="7C6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subscription with 3 tiers — recurring revenue from day one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697480" cy="3794760"/>
          </a:xfrm>
          <a:prstGeom prst="rect">
            <a:avLst/>
          </a:prstGeom>
          <a:solidFill>
            <a:srgbClr val="0D0D0D"/>
          </a:solidFill>
          <a:ln w="12700">
            <a:solidFill>
              <a:srgbClr val="1C1C1C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965960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148840"/>
            <a:ext cx="2148840" cy="1828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0" name="Shape 8"/>
          <p:cNvSpPr/>
          <p:nvPr/>
        </p:nvSpPr>
        <p:spPr>
          <a:xfrm>
            <a:off x="594360" y="2350008"/>
            <a:ext cx="118872" cy="118872"/>
          </a:xfrm>
          <a:prstGeom prst="lin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1" name="Text 9"/>
          <p:cNvSpPr/>
          <p:nvPr/>
        </p:nvSpPr>
        <p:spPr>
          <a:xfrm>
            <a:off x="768096" y="2286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10 users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2688336"/>
            <a:ext cx="118872" cy="118872"/>
          </a:xfrm>
          <a:prstGeom prst="lin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3" name="Text 11"/>
          <p:cNvSpPr/>
          <p:nvPr/>
        </p:nvSpPr>
        <p:spPr>
          <a:xfrm>
            <a:off x="768096" y="26243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+ HR modules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3026664"/>
            <a:ext cx="118872" cy="118872"/>
          </a:xfrm>
          <a:prstGeom prst="lin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5" name="Text 13"/>
          <p:cNvSpPr/>
          <p:nvPr/>
        </p:nvSpPr>
        <p:spPr>
          <a:xfrm>
            <a:off x="768096" y="29626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AI queries/month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3364992"/>
            <a:ext cx="118872" cy="118872"/>
          </a:xfrm>
          <a:prstGeom prst="lin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7" name="Text 15"/>
          <p:cNvSpPr/>
          <p:nvPr/>
        </p:nvSpPr>
        <p:spPr>
          <a:xfrm>
            <a:off x="768096" y="33009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support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" y="3703320"/>
            <a:ext cx="118872" cy="118872"/>
          </a:xfrm>
          <a:prstGeom prst="lin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9" name="Text 17"/>
          <p:cNvSpPr/>
          <p:nvPr/>
        </p:nvSpPr>
        <p:spPr>
          <a:xfrm>
            <a:off x="768096" y="36393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reports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440740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businesses, startups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46120" y="960120"/>
            <a:ext cx="2697480" cy="3794760"/>
          </a:xfrm>
          <a:prstGeom prst="rect">
            <a:avLst/>
          </a:prstGeom>
          <a:solidFill>
            <a:srgbClr val="4F3DE8"/>
          </a:solidFill>
          <a:ln w="25400">
            <a:solidFill>
              <a:srgbClr val="7C6AFF"/>
            </a:solidFill>
            <a:prstDash val="solid"/>
          </a:ln>
          <a:effectLst>
            <a:outerShdw blurRad="228600" dist="50800" dir="8100000" algn="bl" rotWithShape="0">
              <a:srgbClr val="7C6AFF">
                <a:alpha val="12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22" name="Shape 20"/>
          <p:cNvSpPr/>
          <p:nvPr/>
        </p:nvSpPr>
        <p:spPr>
          <a:xfrm>
            <a:off x="3794760" y="914400"/>
            <a:ext cx="1600200" cy="274320"/>
          </a:xfrm>
          <a:prstGeom prst="rect">
            <a:avLst/>
          </a:prstGeom>
          <a:solidFill>
            <a:srgbClr val="7C6AFF"/>
          </a:solidFill>
          <a:ln w="12700">
            <a:solidFill>
              <a:srgbClr val="7C6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3" name="Text 21"/>
          <p:cNvSpPr/>
          <p:nvPr/>
        </p:nvSpPr>
        <p:spPr>
          <a:xfrm>
            <a:off x="3794760" y="9144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83280" y="10972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383280" y="14630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7C6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$149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4846320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520440" y="2148840"/>
            <a:ext cx="2148840" cy="1828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8" name="Shape 26"/>
          <p:cNvSpPr/>
          <p:nvPr/>
        </p:nvSpPr>
        <p:spPr>
          <a:xfrm>
            <a:off x="3474720" y="2350008"/>
            <a:ext cx="118872" cy="118872"/>
          </a:xfrm>
          <a:prstGeom prst="line">
            <a:avLst/>
          </a:prstGeom>
          <a:solidFill>
            <a:srgbClr val="7C6AFF"/>
          </a:solidFill>
          <a:ln w="12700">
            <a:solidFill>
              <a:srgbClr val="7C6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9" name="Text 27"/>
          <p:cNvSpPr/>
          <p:nvPr/>
        </p:nvSpPr>
        <p:spPr>
          <a:xfrm>
            <a:off x="3648456" y="2286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50 users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74720" y="2688336"/>
            <a:ext cx="118872" cy="118872"/>
          </a:xfrm>
          <a:prstGeom prst="line">
            <a:avLst/>
          </a:prstGeom>
          <a:solidFill>
            <a:srgbClr val="7C6AFF"/>
          </a:solidFill>
          <a:ln w="12700">
            <a:solidFill>
              <a:srgbClr val="7C6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1" name="Text 29"/>
          <p:cNvSpPr/>
          <p:nvPr/>
        </p:nvSpPr>
        <p:spPr>
          <a:xfrm>
            <a:off x="3648456" y="26243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9 modules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474720" y="3026664"/>
            <a:ext cx="118872" cy="118872"/>
          </a:xfrm>
          <a:prstGeom prst="line">
            <a:avLst/>
          </a:prstGeom>
          <a:solidFill>
            <a:srgbClr val="7C6AFF"/>
          </a:solidFill>
          <a:ln w="12700">
            <a:solidFill>
              <a:srgbClr val="7C6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3" name="Text 31"/>
          <p:cNvSpPr/>
          <p:nvPr/>
        </p:nvSpPr>
        <p:spPr>
          <a:xfrm>
            <a:off x="3648456" y="29626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AI queries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474720" y="3364992"/>
            <a:ext cx="118872" cy="118872"/>
          </a:xfrm>
          <a:prstGeom prst="line">
            <a:avLst/>
          </a:prstGeom>
          <a:solidFill>
            <a:srgbClr val="7C6AFF"/>
          </a:solidFill>
          <a:ln w="12700">
            <a:solidFill>
              <a:srgbClr val="7C6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5" name="Text 33"/>
          <p:cNvSpPr/>
          <p:nvPr/>
        </p:nvSpPr>
        <p:spPr>
          <a:xfrm>
            <a:off x="3648456" y="33009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474720" y="3703320"/>
            <a:ext cx="118872" cy="118872"/>
          </a:xfrm>
          <a:prstGeom prst="line">
            <a:avLst/>
          </a:prstGeom>
          <a:solidFill>
            <a:srgbClr val="7C6AFF"/>
          </a:solidFill>
          <a:ln w="12700">
            <a:solidFill>
              <a:srgbClr val="7C6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7" name="Text 35"/>
          <p:cNvSpPr/>
          <p:nvPr/>
        </p:nvSpPr>
        <p:spPr>
          <a:xfrm>
            <a:off x="3648456" y="36393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analytics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474720" y="4041648"/>
            <a:ext cx="118872" cy="118872"/>
          </a:xfrm>
          <a:prstGeom prst="line">
            <a:avLst/>
          </a:prstGeom>
          <a:solidFill>
            <a:srgbClr val="7C6AFF"/>
          </a:solidFill>
          <a:ln w="12700">
            <a:solidFill>
              <a:srgbClr val="7C6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9" name="Text 37"/>
          <p:cNvSpPr/>
          <p:nvPr/>
        </p:nvSpPr>
        <p:spPr>
          <a:xfrm>
            <a:off x="3648456" y="3977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access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383280" y="440740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C6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companies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126480" y="960120"/>
            <a:ext cx="2697480" cy="3794760"/>
          </a:xfrm>
          <a:prstGeom prst="rect">
            <a:avLst/>
          </a:prstGeom>
          <a:solidFill>
            <a:srgbClr val="0D0D0D"/>
          </a:solidFill>
          <a:ln w="12700">
            <a:solidFill>
              <a:srgbClr val="1C1C1C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42" name="Text 40"/>
          <p:cNvSpPr/>
          <p:nvPr/>
        </p:nvSpPr>
        <p:spPr>
          <a:xfrm>
            <a:off x="6263640" y="10972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263640" y="14630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3000" dirty="0"/>
          </a:p>
        </p:txBody>
      </p:sp>
      <p:sp>
        <p:nvSpPr>
          <p:cNvPr id="44" name="Text 42"/>
          <p:cNvSpPr/>
          <p:nvPr/>
        </p:nvSpPr>
        <p:spPr>
          <a:xfrm>
            <a:off x="7726680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00800" y="2148840"/>
            <a:ext cx="2148840" cy="1828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6" name="Shape 44"/>
          <p:cNvSpPr/>
          <p:nvPr/>
        </p:nvSpPr>
        <p:spPr>
          <a:xfrm>
            <a:off x="6355080" y="2350008"/>
            <a:ext cx="118872" cy="118872"/>
          </a:xfrm>
          <a:prstGeom prst="lin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7" name="Text 45"/>
          <p:cNvSpPr/>
          <p:nvPr/>
        </p:nvSpPr>
        <p:spPr>
          <a:xfrm>
            <a:off x="6528816" y="2286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users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355080" y="2688336"/>
            <a:ext cx="118872" cy="118872"/>
          </a:xfrm>
          <a:prstGeom prst="lin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9" name="Text 47"/>
          <p:cNvSpPr/>
          <p:nvPr/>
        </p:nvSpPr>
        <p:spPr>
          <a:xfrm>
            <a:off x="6528816" y="26243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AI model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355080" y="3026664"/>
            <a:ext cx="118872" cy="118872"/>
          </a:xfrm>
          <a:prstGeom prst="lin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51" name="Text 49"/>
          <p:cNvSpPr/>
          <p:nvPr/>
        </p:nvSpPr>
        <p:spPr>
          <a:xfrm>
            <a:off x="6528816" y="29626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integrations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355080" y="3364992"/>
            <a:ext cx="118872" cy="118872"/>
          </a:xfrm>
          <a:prstGeom prst="lin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53" name="Text 51"/>
          <p:cNvSpPr/>
          <p:nvPr/>
        </p:nvSpPr>
        <p:spPr>
          <a:xfrm>
            <a:off x="6528816" y="33009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guarantee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355080" y="3703320"/>
            <a:ext cx="118872" cy="118872"/>
          </a:xfrm>
          <a:prstGeom prst="lin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55" name="Text 53"/>
          <p:cNvSpPr/>
          <p:nvPr/>
        </p:nvSpPr>
        <p:spPr>
          <a:xfrm>
            <a:off x="6528816" y="36393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option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355080" y="4041648"/>
            <a:ext cx="118872" cy="118872"/>
          </a:xfrm>
          <a:prstGeom prst="lin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57" name="Text 55"/>
          <p:cNvSpPr/>
          <p:nvPr/>
        </p:nvSpPr>
        <p:spPr>
          <a:xfrm>
            <a:off x="6528816" y="3977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manager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263640" y="440740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corporations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365760" y="482803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Revenue:  AI API usage  ·  Premium integrations  ·  Consulting &amp; onboarding  ·  Data insights (anonymized)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6AFF"/>
          </a:solidFill>
          <a:ln w="12700">
            <a:solidFill>
              <a:srgbClr val="7C6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Milestones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Built, deployed, and live — not just a concept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1298448" cy="1143000"/>
          </a:xfrm>
          <a:prstGeom prst="rect">
            <a:avLst/>
          </a:prstGeom>
          <a:solidFill>
            <a:srgbClr val="0D0D0D"/>
          </a:solidFill>
          <a:ln w="12700">
            <a:solidFill>
              <a:srgbClr val="34D399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54864" cy="1143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7" name="Text 5"/>
          <p:cNvSpPr/>
          <p:nvPr/>
        </p:nvSpPr>
        <p:spPr>
          <a:xfrm>
            <a:off x="393192" y="100584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93192" y="150876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755648" y="960120"/>
            <a:ext cx="1298448" cy="1143000"/>
          </a:xfrm>
          <a:prstGeom prst="rect">
            <a:avLst/>
          </a:prstGeom>
          <a:solidFill>
            <a:srgbClr val="0D0D0D"/>
          </a:solidFill>
          <a:ln w="12700">
            <a:solidFill>
              <a:srgbClr val="7C6A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10" name="Shape 8"/>
          <p:cNvSpPr/>
          <p:nvPr/>
        </p:nvSpPr>
        <p:spPr>
          <a:xfrm>
            <a:off x="1755648" y="960120"/>
            <a:ext cx="54864" cy="1143000"/>
          </a:xfrm>
          <a:prstGeom prst="rect">
            <a:avLst/>
          </a:prstGeom>
          <a:solidFill>
            <a:srgbClr val="7C6AFF"/>
          </a:solidFill>
          <a:ln w="12700">
            <a:solidFill>
              <a:srgbClr val="7C6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1" name="Text 9"/>
          <p:cNvSpPr/>
          <p:nvPr/>
        </p:nvSpPr>
        <p:spPr>
          <a:xfrm>
            <a:off x="1828800" y="100584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6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828800" y="150876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91256" y="960120"/>
            <a:ext cx="1298448" cy="1143000"/>
          </a:xfrm>
          <a:prstGeom prst="rect">
            <a:avLst/>
          </a:prstGeom>
          <a:solidFill>
            <a:srgbClr val="0D0D0D"/>
          </a:solidFill>
          <a:ln w="12700">
            <a:solidFill>
              <a:srgbClr val="60A5FA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14" name="Shape 12"/>
          <p:cNvSpPr/>
          <p:nvPr/>
        </p:nvSpPr>
        <p:spPr>
          <a:xfrm>
            <a:off x="3191256" y="960120"/>
            <a:ext cx="54864" cy="11430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5" name="Text 13"/>
          <p:cNvSpPr/>
          <p:nvPr/>
        </p:nvSpPr>
        <p:spPr>
          <a:xfrm>
            <a:off x="3264408" y="100584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264408" y="150876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26864" y="960120"/>
            <a:ext cx="1298448" cy="1143000"/>
          </a:xfrm>
          <a:prstGeom prst="rect">
            <a:avLst/>
          </a:prstGeom>
          <a:solidFill>
            <a:srgbClr val="0D0D0D"/>
          </a:solidFill>
          <a:ln w="12700">
            <a:solidFill>
              <a:srgbClr val="FBBF24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18" name="Shape 16"/>
          <p:cNvSpPr/>
          <p:nvPr/>
        </p:nvSpPr>
        <p:spPr>
          <a:xfrm>
            <a:off x="4626864" y="960120"/>
            <a:ext cx="54864" cy="11430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9" name="Text 17"/>
          <p:cNvSpPr/>
          <p:nvPr/>
        </p:nvSpPr>
        <p:spPr>
          <a:xfrm>
            <a:off x="4700016" y="100584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700016" y="150876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 + RU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62472" y="960120"/>
            <a:ext cx="1298448" cy="1143000"/>
          </a:xfrm>
          <a:prstGeom prst="rect">
            <a:avLst/>
          </a:prstGeom>
          <a:solidFill>
            <a:srgbClr val="0D0D0D"/>
          </a:solidFill>
          <a:ln w="12700">
            <a:solidFill>
              <a:srgbClr val="F87171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22" name="Shape 20"/>
          <p:cNvSpPr/>
          <p:nvPr/>
        </p:nvSpPr>
        <p:spPr>
          <a:xfrm>
            <a:off x="6062472" y="960120"/>
            <a:ext cx="54864" cy="11430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3" name="Text 21"/>
          <p:cNvSpPr/>
          <p:nvPr/>
        </p:nvSpPr>
        <p:spPr>
          <a:xfrm>
            <a:off x="6135624" y="100584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lex.uz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35624" y="150876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Data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498080" y="960120"/>
            <a:ext cx="1298448" cy="1143000"/>
          </a:xfrm>
          <a:prstGeom prst="rect">
            <a:avLst/>
          </a:prstGeom>
          <a:solidFill>
            <a:srgbClr val="0D0D0D"/>
          </a:solidFill>
          <a:ln w="12700">
            <a:solidFill>
              <a:srgbClr val="A89A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26" name="Shape 24"/>
          <p:cNvSpPr/>
          <p:nvPr/>
        </p:nvSpPr>
        <p:spPr>
          <a:xfrm>
            <a:off x="7498080" y="960120"/>
            <a:ext cx="54864" cy="1143000"/>
          </a:xfrm>
          <a:prstGeom prst="rect">
            <a:avLst/>
          </a:prstGeom>
          <a:solidFill>
            <a:srgbClr val="A89AFF"/>
          </a:solidFill>
          <a:ln w="12700">
            <a:solidFill>
              <a:srgbClr val="A89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7" name="Text 25"/>
          <p:cNvSpPr/>
          <p:nvPr/>
        </p:nvSpPr>
        <p:spPr>
          <a:xfrm>
            <a:off x="7571232" y="100584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9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benela.dev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571232" y="150876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2944368"/>
            <a:ext cx="8229600" cy="4572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1" name="Shape 29"/>
          <p:cNvSpPr/>
          <p:nvPr/>
        </p:nvSpPr>
        <p:spPr>
          <a:xfrm>
            <a:off x="347472" y="2852928"/>
            <a:ext cx="219456" cy="219456"/>
          </a:xfrm>
          <a:prstGeom prst="line">
            <a:avLst/>
          </a:prstGeom>
          <a:solidFill>
            <a:srgbClr val="34D399"/>
          </a:solidFill>
          <a:ln w="254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2" name="Text 30"/>
          <p:cNvSpPr/>
          <p:nvPr/>
        </p:nvSpPr>
        <p:spPr>
          <a:xfrm>
            <a:off x="-45720" y="25420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-45720" y="312724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" y="36393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417320" y="2852928"/>
            <a:ext cx="219456" cy="219456"/>
          </a:xfrm>
          <a:prstGeom prst="line">
            <a:avLst/>
          </a:prstGeom>
          <a:solidFill>
            <a:srgbClr val="34D399"/>
          </a:solidFill>
          <a:ln w="254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6" name="Text 34"/>
          <p:cNvSpPr/>
          <p:nvPr/>
        </p:nvSpPr>
        <p:spPr>
          <a:xfrm>
            <a:off x="1024128" y="25420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24128" y="312724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+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Modules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115568" y="36393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487168" y="2852928"/>
            <a:ext cx="219456" cy="219456"/>
          </a:xfrm>
          <a:prstGeom prst="line">
            <a:avLst/>
          </a:prstGeom>
          <a:solidFill>
            <a:srgbClr val="34D399"/>
          </a:solidFill>
          <a:ln w="254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0" name="Text 38"/>
          <p:cNvSpPr/>
          <p:nvPr/>
        </p:nvSpPr>
        <p:spPr>
          <a:xfrm>
            <a:off x="2093976" y="25420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093976" y="312724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185416" y="36393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557016" y="2852928"/>
            <a:ext cx="219456" cy="219456"/>
          </a:xfrm>
          <a:prstGeom prst="line">
            <a:avLst/>
          </a:prstGeom>
          <a:solidFill>
            <a:srgbClr val="7C6AFF"/>
          </a:solidFill>
          <a:ln w="25400">
            <a:solidFill>
              <a:srgbClr val="7C6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4" name="Text 42"/>
          <p:cNvSpPr/>
          <p:nvPr/>
        </p:nvSpPr>
        <p:spPr>
          <a:xfrm>
            <a:off x="3163824" y="25420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6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2025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163824" y="312724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255264" y="36393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626864" y="2852928"/>
            <a:ext cx="219456" cy="219456"/>
          </a:xfrm>
          <a:prstGeom prst="line">
            <a:avLst/>
          </a:prstGeom>
          <a:solidFill>
            <a:srgbClr val="7C6AFF"/>
          </a:solidFill>
          <a:ln w="25400">
            <a:solidFill>
              <a:srgbClr val="7C6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8" name="Text 46"/>
          <p:cNvSpPr/>
          <p:nvPr/>
        </p:nvSpPr>
        <p:spPr>
          <a:xfrm>
            <a:off x="4233672" y="25420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6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2025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233672" y="312724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325112" y="36393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696712" y="2852928"/>
            <a:ext cx="219456" cy="219456"/>
          </a:xfrm>
          <a:prstGeom prst="line">
            <a:avLst/>
          </a:prstGeom>
          <a:solidFill>
            <a:srgbClr val="1C1C1C"/>
          </a:solidFill>
          <a:ln w="254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52" name="Text 50"/>
          <p:cNvSpPr/>
          <p:nvPr/>
        </p:nvSpPr>
        <p:spPr>
          <a:xfrm>
            <a:off x="5303520" y="25420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2025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303520" y="312724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lex.uz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Mining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394960" y="36393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Planned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766560" y="2852928"/>
            <a:ext cx="219456" cy="219456"/>
          </a:xfrm>
          <a:prstGeom prst="line">
            <a:avLst/>
          </a:prstGeom>
          <a:solidFill>
            <a:srgbClr val="1C1C1C"/>
          </a:solidFill>
          <a:ln w="254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56" name="Text 54"/>
          <p:cNvSpPr/>
          <p:nvPr/>
        </p:nvSpPr>
        <p:spPr>
          <a:xfrm>
            <a:off x="6373368" y="25420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373368" y="312724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Paying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464808" y="36393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Planned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836408" y="2852928"/>
            <a:ext cx="219456" cy="219456"/>
          </a:xfrm>
          <a:prstGeom prst="line">
            <a:avLst/>
          </a:prstGeom>
          <a:solidFill>
            <a:srgbClr val="1C1C1C"/>
          </a:solidFill>
          <a:ln w="25400">
            <a:solidFill>
              <a:srgbClr val="A89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0" name="Text 58"/>
          <p:cNvSpPr/>
          <p:nvPr/>
        </p:nvSpPr>
        <p:spPr>
          <a:xfrm>
            <a:off x="7443216" y="25420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443216" y="312724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7534656" y="36393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Planned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365760" y="4069080"/>
            <a:ext cx="8412480" cy="777240"/>
          </a:xfrm>
          <a:prstGeom prst="rect">
            <a:avLst/>
          </a:prstGeom>
          <a:solidFill>
            <a:srgbClr val="0D0D0D"/>
          </a:solidFill>
          <a:ln w="12700">
            <a:solidFill>
              <a:srgbClr val="1C1C1C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64" name="Text 62"/>
          <p:cNvSpPr/>
          <p:nvPr/>
        </p:nvSpPr>
        <p:spPr>
          <a:xfrm>
            <a:off x="548640" y="4160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1600200" y="4187952"/>
            <a:ext cx="914400" cy="256032"/>
          </a:xfrm>
          <a:prstGeom prst="rect">
            <a:avLst/>
          </a:prstGeom>
          <a:solidFill>
            <a:srgbClr val="4F3DE8"/>
          </a:solidFill>
          <a:ln w="12700">
            <a:solidFill>
              <a:srgbClr val="7C6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6" name="Text 64"/>
          <p:cNvSpPr/>
          <p:nvPr/>
        </p:nvSpPr>
        <p:spPr>
          <a:xfrm>
            <a:off x="1600200" y="4187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9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2624328" y="4187952"/>
            <a:ext cx="914400" cy="256032"/>
          </a:xfrm>
          <a:prstGeom prst="rect">
            <a:avLst/>
          </a:prstGeom>
          <a:solidFill>
            <a:srgbClr val="4F3DE8"/>
          </a:solidFill>
          <a:ln w="12700">
            <a:solidFill>
              <a:srgbClr val="7C6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8" name="Text 66"/>
          <p:cNvSpPr/>
          <p:nvPr/>
        </p:nvSpPr>
        <p:spPr>
          <a:xfrm>
            <a:off x="2624328" y="4187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9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3648456" y="4187952"/>
            <a:ext cx="914400" cy="256032"/>
          </a:xfrm>
          <a:prstGeom prst="rect">
            <a:avLst/>
          </a:prstGeom>
          <a:solidFill>
            <a:srgbClr val="4F3DE8"/>
          </a:solidFill>
          <a:ln w="12700">
            <a:solidFill>
              <a:srgbClr val="7C6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70" name="Text 68"/>
          <p:cNvSpPr/>
          <p:nvPr/>
        </p:nvSpPr>
        <p:spPr>
          <a:xfrm>
            <a:off x="3648456" y="4187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9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4672584" y="4187952"/>
            <a:ext cx="914400" cy="256032"/>
          </a:xfrm>
          <a:prstGeom prst="rect">
            <a:avLst/>
          </a:prstGeom>
          <a:solidFill>
            <a:srgbClr val="4F3DE8"/>
          </a:solidFill>
          <a:ln w="12700">
            <a:solidFill>
              <a:srgbClr val="7C6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72" name="Text 70"/>
          <p:cNvSpPr/>
          <p:nvPr/>
        </p:nvSpPr>
        <p:spPr>
          <a:xfrm>
            <a:off x="4672584" y="4187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9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5696712" y="4187952"/>
            <a:ext cx="914400" cy="256032"/>
          </a:xfrm>
          <a:prstGeom prst="rect">
            <a:avLst/>
          </a:prstGeom>
          <a:solidFill>
            <a:srgbClr val="4F3DE8"/>
          </a:solidFill>
          <a:ln w="12700">
            <a:solidFill>
              <a:srgbClr val="7C6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74" name="Text 72"/>
          <p:cNvSpPr/>
          <p:nvPr/>
        </p:nvSpPr>
        <p:spPr>
          <a:xfrm>
            <a:off x="5696712" y="4187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9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6720840" y="4187952"/>
            <a:ext cx="914400" cy="256032"/>
          </a:xfrm>
          <a:prstGeom prst="rect">
            <a:avLst/>
          </a:prstGeom>
          <a:solidFill>
            <a:srgbClr val="4F3DE8"/>
          </a:solidFill>
          <a:ln w="12700">
            <a:solidFill>
              <a:srgbClr val="7C6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76" name="Text 74"/>
          <p:cNvSpPr/>
          <p:nvPr/>
        </p:nvSpPr>
        <p:spPr>
          <a:xfrm>
            <a:off x="6720840" y="4187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9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DigitalOcean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7744968" y="4187952"/>
            <a:ext cx="914400" cy="256032"/>
          </a:xfrm>
          <a:prstGeom prst="rect">
            <a:avLst/>
          </a:prstGeom>
          <a:solidFill>
            <a:srgbClr val="4F3DE8"/>
          </a:solidFill>
          <a:ln w="12700">
            <a:solidFill>
              <a:srgbClr val="7C6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78" name="Text 76"/>
          <p:cNvSpPr/>
          <p:nvPr/>
        </p:nvSpPr>
        <p:spPr>
          <a:xfrm>
            <a:off x="7744968" y="4187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9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6AFF"/>
          </a:solidFill>
          <a:ln w="12700">
            <a:solidFill>
              <a:srgbClr val="7C6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Strategy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Focused, fast, repeatable — land Tashkent, expand Central Asia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697480" cy="3566160"/>
          </a:xfrm>
          <a:prstGeom prst="rect">
            <a:avLst/>
          </a:prstGeom>
          <a:solidFill>
            <a:srgbClr val="0D0D0D"/>
          </a:solidFill>
          <a:ln w="12700">
            <a:solidFill>
              <a:srgbClr val="7C6A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54864" cy="3566160"/>
          </a:xfrm>
          <a:prstGeom prst="rect">
            <a:avLst/>
          </a:prstGeom>
          <a:solidFill>
            <a:srgbClr val="7C6AFF"/>
          </a:solidFill>
          <a:ln w="12700">
            <a:solidFill>
              <a:srgbClr val="7C6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2697480" cy="457200"/>
          </a:xfrm>
          <a:prstGeom prst="rect">
            <a:avLst/>
          </a:prstGeom>
          <a:solidFill>
            <a:srgbClr val="7C6AFF">
              <a:alpha val="30000"/>
            </a:srgbClr>
          </a:solidFill>
          <a:ln w="12700">
            <a:solidFill>
              <a:srgbClr val="7C6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8" name="Text 6"/>
          <p:cNvSpPr/>
          <p:nvPr/>
        </p:nvSpPr>
        <p:spPr>
          <a:xfrm>
            <a:off x="457200" y="9784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6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28800" y="9784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0–6 months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2070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— Tashkent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30352" y="1783080"/>
            <a:ext cx="73152" cy="201168"/>
          </a:xfrm>
          <a:prstGeom prst="rect">
            <a:avLst/>
          </a:prstGeom>
          <a:solidFill>
            <a:srgbClr val="7C6AFF"/>
          </a:solidFill>
          <a:ln w="12700">
            <a:solidFill>
              <a:srgbClr val="7C6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2" name="Text 10"/>
          <p:cNvSpPr/>
          <p:nvPr/>
        </p:nvSpPr>
        <p:spPr>
          <a:xfrm>
            <a:off x="658368" y="16002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trial onboarding for 50 SMEs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0352" y="2441448"/>
            <a:ext cx="73152" cy="201168"/>
          </a:xfrm>
          <a:prstGeom prst="rect">
            <a:avLst/>
          </a:prstGeom>
          <a:solidFill>
            <a:srgbClr val="7C6AFF"/>
          </a:solidFill>
          <a:ln w="12700">
            <a:solidFill>
              <a:srgbClr val="7C6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4" name="Text 12"/>
          <p:cNvSpPr/>
          <p:nvPr/>
        </p:nvSpPr>
        <p:spPr>
          <a:xfrm>
            <a:off x="658368" y="225856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 with Chamber of Commerce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0352" y="3099816"/>
            <a:ext cx="73152" cy="201168"/>
          </a:xfrm>
          <a:prstGeom prst="rect">
            <a:avLst/>
          </a:prstGeom>
          <a:solidFill>
            <a:srgbClr val="7C6AFF"/>
          </a:solidFill>
          <a:ln w="12700">
            <a:solidFill>
              <a:srgbClr val="7C6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6" name="Text 14"/>
          <p:cNvSpPr/>
          <p:nvPr/>
        </p:nvSpPr>
        <p:spPr>
          <a:xfrm>
            <a:off x="658368" y="291693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marketing in Uzbek (legal updates from lex.uz)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0352" y="3758184"/>
            <a:ext cx="73152" cy="201168"/>
          </a:xfrm>
          <a:prstGeom prst="rect">
            <a:avLst/>
          </a:prstGeom>
          <a:solidFill>
            <a:srgbClr val="7C6AFF"/>
          </a:solidFill>
          <a:ln w="12700">
            <a:solidFill>
              <a:srgbClr val="7C6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8" name="Text 16"/>
          <p:cNvSpPr/>
          <p:nvPr/>
        </p:nvSpPr>
        <p:spPr>
          <a:xfrm>
            <a:off x="658368" y="357530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Tashkent startup community outreach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46120" y="960120"/>
            <a:ext cx="2697480" cy="3566160"/>
          </a:xfrm>
          <a:prstGeom prst="rect">
            <a:avLst/>
          </a:prstGeom>
          <a:solidFill>
            <a:srgbClr val="0D0D0D"/>
          </a:solidFill>
          <a:ln w="12700">
            <a:solidFill>
              <a:srgbClr val="60A5FA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20" name="Shape 18"/>
          <p:cNvSpPr/>
          <p:nvPr/>
        </p:nvSpPr>
        <p:spPr>
          <a:xfrm>
            <a:off x="3246120" y="960120"/>
            <a:ext cx="54864" cy="356616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1" name="Shape 19"/>
          <p:cNvSpPr/>
          <p:nvPr/>
        </p:nvSpPr>
        <p:spPr>
          <a:xfrm>
            <a:off x="3246120" y="960120"/>
            <a:ext cx="2697480" cy="457200"/>
          </a:xfrm>
          <a:prstGeom prst="rect">
            <a:avLst/>
          </a:prstGeom>
          <a:solidFill>
            <a:srgbClr val="60A5FA">
              <a:alpha val="30000"/>
            </a:srgbClr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2" name="Text 20"/>
          <p:cNvSpPr/>
          <p:nvPr/>
        </p:nvSpPr>
        <p:spPr>
          <a:xfrm>
            <a:off x="3337560" y="9784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09160" y="9784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6–18 months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37560" y="12070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— Uzbekistan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410712" y="1783080"/>
            <a:ext cx="73152" cy="20116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6" name="Text 24"/>
          <p:cNvSpPr/>
          <p:nvPr/>
        </p:nvSpPr>
        <p:spPr>
          <a:xfrm>
            <a:off x="3538728" y="16002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trials to paid (target 30% conversion)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10712" y="2441448"/>
            <a:ext cx="73152" cy="20116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8" name="Text 26"/>
          <p:cNvSpPr/>
          <p:nvPr/>
        </p:nvSpPr>
        <p:spPr>
          <a:xfrm>
            <a:off x="3538728" y="225856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program — 2 months free per referral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10712" y="3099816"/>
            <a:ext cx="73152" cy="20116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0" name="Text 28"/>
          <p:cNvSpPr/>
          <p:nvPr/>
        </p:nvSpPr>
        <p:spPr>
          <a:xfrm>
            <a:off x="3538728" y="291693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Accountant partner program (B2B2B)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410712" y="3758184"/>
            <a:ext cx="73152" cy="20116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2" name="Text 30"/>
          <p:cNvSpPr/>
          <p:nvPr/>
        </p:nvSpPr>
        <p:spPr>
          <a:xfrm>
            <a:off x="3538728" y="357530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tender integration (GovTech)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26480" y="960120"/>
            <a:ext cx="2697480" cy="3566160"/>
          </a:xfrm>
          <a:prstGeom prst="rect">
            <a:avLst/>
          </a:prstGeom>
          <a:solidFill>
            <a:srgbClr val="0D0D0D"/>
          </a:solidFill>
          <a:ln w="12700">
            <a:solidFill>
              <a:srgbClr val="34D399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34" name="Shape 32"/>
          <p:cNvSpPr/>
          <p:nvPr/>
        </p:nvSpPr>
        <p:spPr>
          <a:xfrm>
            <a:off x="6126480" y="960120"/>
            <a:ext cx="54864" cy="35661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5" name="Shape 33"/>
          <p:cNvSpPr/>
          <p:nvPr/>
        </p:nvSpPr>
        <p:spPr>
          <a:xfrm>
            <a:off x="6126480" y="960120"/>
            <a:ext cx="2697480" cy="457200"/>
          </a:xfrm>
          <a:prstGeom prst="rect">
            <a:avLst/>
          </a:prstGeom>
          <a:solidFill>
            <a:srgbClr val="34D399">
              <a:alpha val="30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6" name="Text 34"/>
          <p:cNvSpPr/>
          <p:nvPr/>
        </p:nvSpPr>
        <p:spPr>
          <a:xfrm>
            <a:off x="6217920" y="9784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589520" y="9784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18–36 months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217920" y="12070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— Central Asia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291072" y="1783080"/>
            <a:ext cx="73152" cy="2011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0" name="Text 38"/>
          <p:cNvSpPr/>
          <p:nvPr/>
        </p:nvSpPr>
        <p:spPr>
          <a:xfrm>
            <a:off x="6419088" y="16002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Kazakhstan expansion (Almaty, Astana)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91072" y="2441448"/>
            <a:ext cx="73152" cy="2011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2" name="Text 40"/>
          <p:cNvSpPr/>
          <p:nvPr/>
        </p:nvSpPr>
        <p:spPr>
          <a:xfrm>
            <a:off x="6419088" y="225856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Kyrgyzstan + Tajikistan localization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91072" y="3099816"/>
            <a:ext cx="73152" cy="2011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4" name="Text 42"/>
          <p:cNvSpPr/>
          <p:nvPr/>
        </p:nvSpPr>
        <p:spPr>
          <a:xfrm>
            <a:off x="6419088" y="291693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enterprise deals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91072" y="3758184"/>
            <a:ext cx="73152" cy="2011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6" name="Text 44"/>
          <p:cNvSpPr/>
          <p:nvPr/>
        </p:nvSpPr>
        <p:spPr>
          <a:xfrm>
            <a:off x="6419088" y="357530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fundraising ($1–3M)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063240" y="2697480"/>
            <a:ext cx="365760" cy="0"/>
          </a:xfrm>
          <a:prstGeom prst="line">
            <a:avLst/>
          </a:prstGeom>
          <a:noFill/>
          <a:ln w="25400">
            <a:solidFill>
              <a:srgbClr val="7C6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8" name="Shape 46"/>
          <p:cNvSpPr/>
          <p:nvPr/>
        </p:nvSpPr>
        <p:spPr>
          <a:xfrm>
            <a:off x="5943600" y="2697480"/>
            <a:ext cx="365760" cy="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9" name="Shape 47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solidFill>
            <a:srgbClr val="0D0D0D"/>
          </a:solidFill>
          <a:ln w="12700">
            <a:solidFill>
              <a:srgbClr val="1C1C1C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50" name="Text 48"/>
          <p:cNvSpPr/>
          <p:nvPr/>
        </p:nvSpPr>
        <p:spPr>
          <a:xfrm>
            <a:off x="502920" y="468172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CAC: $80/customer  ·  Target LTV: $1,800/customer  ·  LTV:CAC Ratio: 22:1  ·  Payback Period: 7 months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6AFF"/>
          </a:solidFill>
          <a:ln w="12700">
            <a:solidFill>
              <a:srgbClr val="7C6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Projections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model — break-even by Month 14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960120"/>
          <a:ext cx="51206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760720" y="960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760720" y="1325880"/>
            <a:ext cx="3017520" cy="658368"/>
          </a:xfrm>
          <a:prstGeom prst="rect">
            <a:avLst/>
          </a:prstGeom>
          <a:solidFill>
            <a:srgbClr val="0D0D0D"/>
          </a:solidFill>
          <a:ln w="12700">
            <a:solidFill>
              <a:srgbClr val="7C6A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8" name="Shape 5"/>
          <p:cNvSpPr/>
          <p:nvPr/>
        </p:nvSpPr>
        <p:spPr>
          <a:xfrm>
            <a:off x="5760720" y="1325880"/>
            <a:ext cx="54864" cy="658368"/>
          </a:xfrm>
          <a:prstGeom prst="rect">
            <a:avLst/>
          </a:prstGeom>
          <a:solidFill>
            <a:srgbClr val="7C6AFF"/>
          </a:solidFill>
          <a:ln w="12700">
            <a:solidFill>
              <a:srgbClr val="7C6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9" name="Text 6"/>
          <p:cNvSpPr/>
          <p:nvPr/>
        </p:nvSpPr>
        <p:spPr>
          <a:xfrm>
            <a:off x="5925312" y="1371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6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925312" y="162763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clients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406640" y="13716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7C6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$7,350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760720" y="2075688"/>
            <a:ext cx="3017520" cy="658368"/>
          </a:xfrm>
          <a:prstGeom prst="rect">
            <a:avLst/>
          </a:prstGeom>
          <a:solidFill>
            <a:srgbClr val="0D0D0D"/>
          </a:solidFill>
          <a:ln w="12700">
            <a:solidFill>
              <a:srgbClr val="60A5FA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13" name="Shape 10"/>
          <p:cNvSpPr/>
          <p:nvPr/>
        </p:nvSpPr>
        <p:spPr>
          <a:xfrm>
            <a:off x="5760720" y="2075688"/>
            <a:ext cx="54864" cy="65836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4" name="Text 11"/>
          <p:cNvSpPr/>
          <p:nvPr/>
        </p:nvSpPr>
        <p:spPr>
          <a:xfrm>
            <a:off x="5925312" y="21214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925312" y="23774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clients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406640" y="212140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$21,560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760720" y="2825496"/>
            <a:ext cx="3017520" cy="658368"/>
          </a:xfrm>
          <a:prstGeom prst="rect">
            <a:avLst/>
          </a:prstGeom>
          <a:solidFill>
            <a:srgbClr val="0D0D0D"/>
          </a:solidFill>
          <a:ln w="12700">
            <a:solidFill>
              <a:srgbClr val="34D399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18" name="Shape 15"/>
          <p:cNvSpPr/>
          <p:nvPr/>
        </p:nvSpPr>
        <p:spPr>
          <a:xfrm>
            <a:off x="5760720" y="2825496"/>
            <a:ext cx="54864" cy="6583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9" name="Text 16"/>
          <p:cNvSpPr/>
          <p:nvPr/>
        </p:nvSpPr>
        <p:spPr>
          <a:xfrm>
            <a:off x="5925312" y="28712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18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925312" y="312724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 clients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406640" y="287121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$42,000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5760720" y="3575304"/>
            <a:ext cx="3017520" cy="658368"/>
          </a:xfrm>
          <a:prstGeom prst="rect">
            <a:avLst/>
          </a:prstGeom>
          <a:solidFill>
            <a:srgbClr val="0D0D0D"/>
          </a:solidFill>
          <a:ln w="12700">
            <a:solidFill>
              <a:srgbClr val="FBBF24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23" name="Shape 20"/>
          <p:cNvSpPr/>
          <p:nvPr/>
        </p:nvSpPr>
        <p:spPr>
          <a:xfrm>
            <a:off x="5760720" y="3575304"/>
            <a:ext cx="54864" cy="6583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4" name="Text 21"/>
          <p:cNvSpPr/>
          <p:nvPr/>
        </p:nvSpPr>
        <p:spPr>
          <a:xfrm>
            <a:off x="5925312" y="36210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24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925312" y="387705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 clients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7406640" y="3621024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$89,000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365760" y="4297680"/>
            <a:ext cx="8412480" cy="731520"/>
          </a:xfrm>
          <a:prstGeom prst="rect">
            <a:avLst/>
          </a:prstGeom>
          <a:solidFill>
            <a:srgbClr val="0D0D0D"/>
          </a:solidFill>
          <a:ln w="12700">
            <a:solidFill>
              <a:srgbClr val="1C1C1C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28" name="Text 25"/>
          <p:cNvSpPr/>
          <p:nvPr/>
        </p:nvSpPr>
        <p:spPr>
          <a:xfrm>
            <a:off x="548640" y="4370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Assumptions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48640" y="4663440"/>
            <a:ext cx="109728" cy="109728"/>
          </a:xfrm>
          <a:prstGeom prst="line">
            <a:avLst/>
          </a:prstGeom>
          <a:solidFill>
            <a:srgbClr val="7C6AFF"/>
          </a:solidFill>
          <a:ln w="12700">
            <a:solidFill>
              <a:srgbClr val="7C6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0" name="Text 27"/>
          <p:cNvSpPr/>
          <p:nvPr/>
        </p:nvSpPr>
        <p:spPr>
          <a:xfrm>
            <a:off x="694944" y="46085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plan: $123/mo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1920240" y="4663440"/>
            <a:ext cx="109728" cy="109728"/>
          </a:xfrm>
          <a:prstGeom prst="line">
            <a:avLst/>
          </a:prstGeom>
          <a:solidFill>
            <a:srgbClr val="7C6AFF"/>
          </a:solidFill>
          <a:ln w="12700">
            <a:solidFill>
              <a:srgbClr val="7C6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2" name="Text 29"/>
          <p:cNvSpPr/>
          <p:nvPr/>
        </p:nvSpPr>
        <p:spPr>
          <a:xfrm>
            <a:off x="2066544" y="46085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Churn: 3%/month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3291840" y="4663440"/>
            <a:ext cx="109728" cy="109728"/>
          </a:xfrm>
          <a:prstGeom prst="line">
            <a:avLst/>
          </a:prstGeom>
          <a:solidFill>
            <a:srgbClr val="7C6AFF"/>
          </a:solidFill>
          <a:ln w="12700">
            <a:solidFill>
              <a:srgbClr val="7C6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4" name="Text 31"/>
          <p:cNvSpPr/>
          <p:nvPr/>
        </p:nvSpPr>
        <p:spPr>
          <a:xfrm>
            <a:off x="3438144" y="46085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Conversion: 30%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4663440" y="4663440"/>
            <a:ext cx="109728" cy="109728"/>
          </a:xfrm>
          <a:prstGeom prst="line">
            <a:avLst/>
          </a:prstGeom>
          <a:solidFill>
            <a:srgbClr val="7C6AFF"/>
          </a:solidFill>
          <a:ln w="12700">
            <a:solidFill>
              <a:srgbClr val="7C6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6" name="Text 33"/>
          <p:cNvSpPr/>
          <p:nvPr/>
        </p:nvSpPr>
        <p:spPr>
          <a:xfrm>
            <a:off x="4809744" y="46085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CAC: $80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6035040" y="4663440"/>
            <a:ext cx="109728" cy="109728"/>
          </a:xfrm>
          <a:prstGeom prst="line">
            <a:avLst/>
          </a:prstGeom>
          <a:solidFill>
            <a:srgbClr val="7C6AFF"/>
          </a:solidFill>
          <a:ln w="12700">
            <a:solidFill>
              <a:srgbClr val="7C6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8" name="Text 35"/>
          <p:cNvSpPr/>
          <p:nvPr/>
        </p:nvSpPr>
        <p:spPr>
          <a:xfrm>
            <a:off x="6181344" y="46085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Break-even: M14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7406640" y="4663440"/>
            <a:ext cx="109728" cy="109728"/>
          </a:xfrm>
          <a:prstGeom prst="line">
            <a:avLst/>
          </a:prstGeom>
          <a:solidFill>
            <a:srgbClr val="7C6AFF"/>
          </a:solidFill>
          <a:ln w="12700">
            <a:solidFill>
              <a:srgbClr val="7C6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0" name="Text 37"/>
          <p:cNvSpPr/>
          <p:nvPr/>
        </p:nvSpPr>
        <p:spPr>
          <a:xfrm>
            <a:off x="7552944" y="46085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4 people Y1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6AFF"/>
          </a:solidFill>
          <a:ln w="12700">
            <a:solidFill>
              <a:srgbClr val="7C6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Investment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raising $50,000 – $100,000 in seed funding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0" y="1825619"/>
            <a:ext cx="4416950" cy="0"/>
          </a:xfrm>
          <a:prstGeom prst="line">
            <a:avLst/>
          </a:prstGeom>
          <a:solidFill>
            <a:srgbClr val="7C6AFF">
              <a:alpha val="12000"/>
            </a:srgbClr>
          </a:solidFill>
          <a:ln w="12700">
            <a:solidFill>
              <a:srgbClr val="7C6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" name="Text 4"/>
          <p:cNvSpPr/>
          <p:nvPr/>
        </p:nvSpPr>
        <p:spPr>
          <a:xfrm>
            <a:off x="1371600" y="9144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 – $100K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228600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A89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Investment Round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367499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USE THE FUNDS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778979"/>
            <a:ext cx="3657600" cy="164592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0" name="Shape 8"/>
          <p:cNvSpPr/>
          <p:nvPr/>
        </p:nvSpPr>
        <p:spPr>
          <a:xfrm>
            <a:off x="457200" y="2778979"/>
            <a:ext cx="1463040" cy="164592"/>
          </a:xfrm>
          <a:prstGeom prst="rect">
            <a:avLst/>
          </a:prstGeom>
          <a:solidFill>
            <a:srgbClr val="7C6AFF"/>
          </a:solidFill>
          <a:ln w="12700">
            <a:solidFill>
              <a:srgbClr val="7C6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1" name="Text 9"/>
          <p:cNvSpPr/>
          <p:nvPr/>
        </p:nvSpPr>
        <p:spPr>
          <a:xfrm>
            <a:off x="457200" y="2596099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 Product Development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51960" y="2733259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modules, mobile app, API improvements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172171"/>
            <a:ext cx="3657600" cy="164592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4" name="Shape 12"/>
          <p:cNvSpPr/>
          <p:nvPr/>
        </p:nvSpPr>
        <p:spPr>
          <a:xfrm>
            <a:off x="457200" y="3172171"/>
            <a:ext cx="914400" cy="16459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5" name="Text 13"/>
          <p:cNvSpPr/>
          <p:nvPr/>
        </p:nvSpPr>
        <p:spPr>
          <a:xfrm>
            <a:off x="457200" y="2989291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 Sales &amp; Marketing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51960" y="3140167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acquisition, events, partnerships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565363"/>
            <a:ext cx="3657600" cy="164592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8" name="Shape 16"/>
          <p:cNvSpPr/>
          <p:nvPr/>
        </p:nvSpPr>
        <p:spPr>
          <a:xfrm>
            <a:off x="457200" y="3565363"/>
            <a:ext cx="731520" cy="16459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9" name="Text 17"/>
          <p:cNvSpPr/>
          <p:nvPr/>
        </p:nvSpPr>
        <p:spPr>
          <a:xfrm>
            <a:off x="457200" y="3382483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 Team Expansion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51960" y="3524215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senior dev, 1 sales lead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958555"/>
            <a:ext cx="3657600" cy="164592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2" name="Shape 20"/>
          <p:cNvSpPr/>
          <p:nvPr/>
        </p:nvSpPr>
        <p:spPr>
          <a:xfrm>
            <a:off x="457200" y="3958555"/>
            <a:ext cx="365760" cy="16459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3" name="Text 21"/>
          <p:cNvSpPr/>
          <p:nvPr/>
        </p:nvSpPr>
        <p:spPr>
          <a:xfrm>
            <a:off x="457200" y="3775675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 Infrastructure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251960" y="3848827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Servers, AI API credits, tools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4359701"/>
            <a:ext cx="3657600" cy="164592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6" name="Shape 24"/>
          <p:cNvSpPr/>
          <p:nvPr/>
        </p:nvSpPr>
        <p:spPr>
          <a:xfrm>
            <a:off x="457200" y="4359701"/>
            <a:ext cx="182880" cy="16459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7" name="Text 25"/>
          <p:cNvSpPr/>
          <p:nvPr/>
        </p:nvSpPr>
        <p:spPr>
          <a:xfrm>
            <a:off x="457200" y="4168867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 Legal &amp; Operations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251960" y="4242019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setup, accounting, compliance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46908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4645152"/>
            <a:ext cx="841248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7C6A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31" name="Shape 29"/>
          <p:cNvSpPr/>
          <p:nvPr/>
        </p:nvSpPr>
        <p:spPr>
          <a:xfrm>
            <a:off x="365760" y="4645152"/>
            <a:ext cx="54864" cy="429768"/>
          </a:xfrm>
          <a:prstGeom prst="rect">
            <a:avLst/>
          </a:prstGeom>
          <a:solidFill>
            <a:srgbClr val="7C6AFF"/>
          </a:solidFill>
          <a:ln w="12700">
            <a:solidFill>
              <a:srgbClr val="7C6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2" name="Text 30"/>
          <p:cNvSpPr/>
          <p:nvPr/>
        </p:nvSpPr>
        <p:spPr>
          <a:xfrm>
            <a:off x="502920" y="466344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9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stake  ·  Board observer seat  ·  Monthly MRR updates  ·  Pro-rata rights on future rounds  ·  Full financial transparency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6AFF"/>
          </a:solidFill>
          <a:ln w="12700">
            <a:solidFill>
              <a:srgbClr val="7C6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Builders who ship — product is live, not a mockup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1691640"/>
          </a:xfrm>
          <a:prstGeom prst="rect">
            <a:avLst/>
          </a:prstGeom>
          <a:solidFill>
            <a:srgbClr val="0D0D0D"/>
          </a:solidFill>
          <a:ln w="12700">
            <a:solidFill>
              <a:srgbClr val="7C6A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54864" cy="1691640"/>
          </a:xfrm>
          <a:prstGeom prst="rect">
            <a:avLst/>
          </a:prstGeom>
          <a:solidFill>
            <a:srgbClr val="7C6AFF"/>
          </a:solidFill>
          <a:ln w="12700">
            <a:solidFill>
              <a:srgbClr val="7C6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7" name="Shape 5"/>
          <p:cNvSpPr/>
          <p:nvPr/>
        </p:nvSpPr>
        <p:spPr>
          <a:xfrm>
            <a:off x="530352" y="1188720"/>
            <a:ext cx="640080" cy="640080"/>
          </a:xfrm>
          <a:prstGeom prst="line">
            <a:avLst/>
          </a:prstGeom>
          <a:solidFill>
            <a:srgbClr val="7C6AFF">
              <a:alpha val="40000"/>
            </a:srgbClr>
          </a:solidFill>
          <a:ln w="25400">
            <a:solidFill>
              <a:srgbClr val="7C6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8" name="Text 6"/>
          <p:cNvSpPr/>
          <p:nvPr/>
        </p:nvSpPr>
        <p:spPr>
          <a:xfrm>
            <a:off x="530352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80160" y="1188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Shavkat Toshpulotov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14630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C6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192024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developer &amp; entrepreneur. Built entire Benela AI platform end-to-end. Deep understanding of Uzbek enterprise market.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30352" y="1664208"/>
            <a:ext cx="877824" cy="201168"/>
          </a:xfrm>
          <a:prstGeom prst="rect">
            <a:avLst/>
          </a:prstGeom>
          <a:solidFill>
            <a:srgbClr val="7C6AFF">
              <a:alpha val="25000"/>
            </a:srgbClr>
          </a:solidFill>
          <a:ln w="12700">
            <a:solidFill>
              <a:srgbClr val="7C6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3" name="Text 11"/>
          <p:cNvSpPr/>
          <p:nvPr/>
        </p:nvSpPr>
        <p:spPr>
          <a:xfrm>
            <a:off x="530352" y="166420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C6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481328" y="1664208"/>
            <a:ext cx="877824" cy="201168"/>
          </a:xfrm>
          <a:prstGeom prst="rect">
            <a:avLst/>
          </a:prstGeom>
          <a:solidFill>
            <a:srgbClr val="7C6AFF">
              <a:alpha val="25000"/>
            </a:srgbClr>
          </a:solidFill>
          <a:ln w="12700">
            <a:solidFill>
              <a:srgbClr val="7C6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5" name="Text 13"/>
          <p:cNvSpPr/>
          <p:nvPr/>
        </p:nvSpPr>
        <p:spPr>
          <a:xfrm>
            <a:off x="1481328" y="166420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C6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432304" y="1664208"/>
            <a:ext cx="877824" cy="201168"/>
          </a:xfrm>
          <a:prstGeom prst="rect">
            <a:avLst/>
          </a:prstGeom>
          <a:solidFill>
            <a:srgbClr val="7C6AFF">
              <a:alpha val="25000"/>
            </a:srgbClr>
          </a:solidFill>
          <a:ln w="12700">
            <a:solidFill>
              <a:srgbClr val="7C6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7" name="Text 15"/>
          <p:cNvSpPr/>
          <p:nvPr/>
        </p:nvSpPr>
        <p:spPr>
          <a:xfrm>
            <a:off x="2432304" y="166420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C6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383280" y="1664208"/>
            <a:ext cx="877824" cy="201168"/>
          </a:xfrm>
          <a:prstGeom prst="rect">
            <a:avLst/>
          </a:prstGeom>
          <a:solidFill>
            <a:srgbClr val="7C6AFF">
              <a:alpha val="25000"/>
            </a:srgbClr>
          </a:solidFill>
          <a:ln w="12700">
            <a:solidFill>
              <a:srgbClr val="7C6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9" name="Text 17"/>
          <p:cNvSpPr/>
          <p:nvPr/>
        </p:nvSpPr>
        <p:spPr>
          <a:xfrm>
            <a:off x="3383280" y="166420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C6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63440" y="1005840"/>
            <a:ext cx="4023360" cy="1691640"/>
          </a:xfrm>
          <a:prstGeom prst="rect">
            <a:avLst/>
          </a:prstGeom>
          <a:solidFill>
            <a:srgbClr val="0D0D0D"/>
          </a:solidFill>
          <a:ln w="12700">
            <a:solidFill>
              <a:srgbClr val="60A5FA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21" name="Shape 19"/>
          <p:cNvSpPr/>
          <p:nvPr/>
        </p:nvSpPr>
        <p:spPr>
          <a:xfrm>
            <a:off x="4663440" y="1005840"/>
            <a:ext cx="54864" cy="169164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2" name="Shape 20"/>
          <p:cNvSpPr/>
          <p:nvPr/>
        </p:nvSpPr>
        <p:spPr>
          <a:xfrm>
            <a:off x="4828032" y="1188720"/>
            <a:ext cx="640080" cy="640080"/>
          </a:xfrm>
          <a:prstGeom prst="line">
            <a:avLst/>
          </a:prstGeom>
          <a:solidFill>
            <a:srgbClr val="60A5FA">
              <a:alpha val="40000"/>
            </a:srgbClr>
          </a:solidFill>
          <a:ln w="254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3" name="Text 21"/>
          <p:cNvSpPr/>
          <p:nvPr/>
        </p:nvSpPr>
        <p:spPr>
          <a:xfrm>
            <a:off x="4828032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577840" y="1188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Role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577840" y="14630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/ Lead Engineer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28032" y="192024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Seeking: Senior backend engineer with Python/FastAPI experience and passion for the local market.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28032" y="1664208"/>
            <a:ext cx="877824" cy="201168"/>
          </a:xfrm>
          <a:prstGeom prst="rect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8" name="Text 26"/>
          <p:cNvSpPr/>
          <p:nvPr/>
        </p:nvSpPr>
        <p:spPr>
          <a:xfrm>
            <a:off x="4828032" y="166420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779008" y="1664208"/>
            <a:ext cx="877824" cy="201168"/>
          </a:xfrm>
          <a:prstGeom prst="rect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0" name="Text 28"/>
          <p:cNvSpPr/>
          <p:nvPr/>
        </p:nvSpPr>
        <p:spPr>
          <a:xfrm>
            <a:off x="5779008" y="166420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729984" y="1664208"/>
            <a:ext cx="877824" cy="201168"/>
          </a:xfrm>
          <a:prstGeom prst="rect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2" name="Text 30"/>
          <p:cNvSpPr/>
          <p:nvPr/>
        </p:nvSpPr>
        <p:spPr>
          <a:xfrm>
            <a:off x="6729984" y="166420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680960" y="1664208"/>
            <a:ext cx="877824" cy="201168"/>
          </a:xfrm>
          <a:prstGeom prst="rect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4" name="Text 32"/>
          <p:cNvSpPr/>
          <p:nvPr/>
        </p:nvSpPr>
        <p:spPr>
          <a:xfrm>
            <a:off x="7680960" y="166420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65760" y="2926080"/>
            <a:ext cx="4023360" cy="1691640"/>
          </a:xfrm>
          <a:prstGeom prst="rect">
            <a:avLst/>
          </a:prstGeom>
          <a:solidFill>
            <a:srgbClr val="0D0D0D"/>
          </a:solidFill>
          <a:ln w="12700">
            <a:solidFill>
              <a:srgbClr val="34D399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36" name="Shape 34"/>
          <p:cNvSpPr/>
          <p:nvPr/>
        </p:nvSpPr>
        <p:spPr>
          <a:xfrm>
            <a:off x="365760" y="2926080"/>
            <a:ext cx="54864" cy="16916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7" name="Shape 35"/>
          <p:cNvSpPr/>
          <p:nvPr/>
        </p:nvSpPr>
        <p:spPr>
          <a:xfrm>
            <a:off x="530352" y="3108960"/>
            <a:ext cx="640080" cy="640080"/>
          </a:xfrm>
          <a:prstGeom prst="line">
            <a:avLst/>
          </a:prstGeom>
          <a:solidFill>
            <a:srgbClr val="34D399">
              <a:alpha val="40000"/>
            </a:srgbClr>
          </a:solidFill>
          <a:ln w="254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8" name="Text 36"/>
          <p:cNvSpPr/>
          <p:nvPr/>
        </p:nvSpPr>
        <p:spPr>
          <a:xfrm>
            <a:off x="530352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1280160" y="3108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Role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280160" y="33832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Sales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30352" y="384048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Seeking: Sales leader with existing relationships in Uzbek business community, B2B SaaS experience.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30352" y="3584448"/>
            <a:ext cx="877824" cy="201168"/>
          </a:xfrm>
          <a:prstGeom prst="rect">
            <a:avLst/>
          </a:prstGeom>
          <a:solidFill>
            <a:srgbClr val="34D399">
              <a:alpha val="25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3" name="Text 41"/>
          <p:cNvSpPr/>
          <p:nvPr/>
        </p:nvSpPr>
        <p:spPr>
          <a:xfrm>
            <a:off x="530352" y="358444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Sales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481328" y="3584448"/>
            <a:ext cx="877824" cy="201168"/>
          </a:xfrm>
          <a:prstGeom prst="rect">
            <a:avLst/>
          </a:prstGeom>
          <a:solidFill>
            <a:srgbClr val="34D399">
              <a:alpha val="25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5" name="Text 43"/>
          <p:cNvSpPr/>
          <p:nvPr/>
        </p:nvSpPr>
        <p:spPr>
          <a:xfrm>
            <a:off x="1481328" y="358444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432304" y="3584448"/>
            <a:ext cx="877824" cy="201168"/>
          </a:xfrm>
          <a:prstGeom prst="rect">
            <a:avLst/>
          </a:prstGeom>
          <a:solidFill>
            <a:srgbClr val="34D399">
              <a:alpha val="25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7" name="Text 45"/>
          <p:cNvSpPr/>
          <p:nvPr/>
        </p:nvSpPr>
        <p:spPr>
          <a:xfrm>
            <a:off x="2432304" y="358444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Uzbek Market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383280" y="3584448"/>
            <a:ext cx="877824" cy="201168"/>
          </a:xfrm>
          <a:prstGeom prst="rect">
            <a:avLst/>
          </a:prstGeom>
          <a:solidFill>
            <a:srgbClr val="34D399">
              <a:alpha val="25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9" name="Text 47"/>
          <p:cNvSpPr/>
          <p:nvPr/>
        </p:nvSpPr>
        <p:spPr>
          <a:xfrm>
            <a:off x="3383280" y="358444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663440" y="2926080"/>
            <a:ext cx="4023360" cy="1691640"/>
          </a:xfrm>
          <a:prstGeom prst="rect">
            <a:avLst/>
          </a:prstGeom>
          <a:solidFill>
            <a:srgbClr val="0D0D0D"/>
          </a:solidFill>
          <a:ln w="12700">
            <a:solidFill>
              <a:srgbClr val="FBBF24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51" name="Shape 49"/>
          <p:cNvSpPr/>
          <p:nvPr/>
        </p:nvSpPr>
        <p:spPr>
          <a:xfrm>
            <a:off x="4663440" y="2926080"/>
            <a:ext cx="54864" cy="16916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52" name="Shape 50"/>
          <p:cNvSpPr/>
          <p:nvPr/>
        </p:nvSpPr>
        <p:spPr>
          <a:xfrm>
            <a:off x="4828032" y="3108960"/>
            <a:ext cx="640080" cy="640080"/>
          </a:xfrm>
          <a:prstGeom prst="line">
            <a:avLst/>
          </a:prstGeom>
          <a:solidFill>
            <a:srgbClr val="FBBF24">
              <a:alpha val="40000"/>
            </a:srgbClr>
          </a:solidFill>
          <a:ln w="254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53" name="Text 51"/>
          <p:cNvSpPr/>
          <p:nvPr/>
        </p:nvSpPr>
        <p:spPr>
          <a:xfrm>
            <a:off x="4828032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5577840" y="3108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Board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5577840" y="33832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Recruited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828032" y="384048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Seeking advisors with: VC background in Central Asia, Enterprise software exits, Uzbek government connections.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828032" y="3584448"/>
            <a:ext cx="877824" cy="201168"/>
          </a:xfrm>
          <a:prstGeom prst="rect">
            <a:avLst/>
          </a:prstGeom>
          <a:solidFill>
            <a:srgbClr val="FBBF24">
              <a:alpha val="25000"/>
            </a:srgbClr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58" name="Text 56"/>
          <p:cNvSpPr/>
          <p:nvPr/>
        </p:nvSpPr>
        <p:spPr>
          <a:xfrm>
            <a:off x="4828032" y="358444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 Network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5779008" y="3584448"/>
            <a:ext cx="877824" cy="201168"/>
          </a:xfrm>
          <a:prstGeom prst="rect">
            <a:avLst/>
          </a:prstGeom>
          <a:solidFill>
            <a:srgbClr val="FBBF24">
              <a:alpha val="25000"/>
            </a:srgbClr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0" name="Text 58"/>
          <p:cNvSpPr/>
          <p:nvPr/>
        </p:nvSpPr>
        <p:spPr>
          <a:xfrm>
            <a:off x="5779008" y="358444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Gov't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729984" y="3584448"/>
            <a:ext cx="877824" cy="201168"/>
          </a:xfrm>
          <a:prstGeom prst="rect">
            <a:avLst/>
          </a:prstGeom>
          <a:solidFill>
            <a:srgbClr val="FBBF24">
              <a:alpha val="25000"/>
            </a:srgbClr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2" name="Text 60"/>
          <p:cNvSpPr/>
          <p:nvPr/>
        </p:nvSpPr>
        <p:spPr>
          <a:xfrm>
            <a:off x="6729984" y="358444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7680960" y="3584448"/>
            <a:ext cx="877824" cy="201168"/>
          </a:xfrm>
          <a:prstGeom prst="rect">
            <a:avLst/>
          </a:prstGeom>
          <a:solidFill>
            <a:srgbClr val="FBBF24">
              <a:alpha val="25000"/>
            </a:srgbClr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4" name="Text 62"/>
          <p:cNvSpPr/>
          <p:nvPr/>
        </p:nvSpPr>
        <p:spPr>
          <a:xfrm>
            <a:off x="7680960" y="358444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6AFF"/>
          </a:solidFill>
          <a:ln w="12700">
            <a:solidFill>
              <a:srgbClr val="7C6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023360" cy="1234440"/>
          </a:xfrm>
          <a:prstGeom prst="rect">
            <a:avLst/>
          </a:prstGeom>
          <a:solidFill>
            <a:srgbClr val="0D0D0D"/>
          </a:solidFill>
          <a:ln w="12700">
            <a:solidFill>
              <a:srgbClr val="7C6A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54864" cy="1234440"/>
          </a:xfrm>
          <a:prstGeom prst="rect">
            <a:avLst/>
          </a:prstGeom>
          <a:solidFill>
            <a:srgbClr val="7C6AFF"/>
          </a:solidFill>
          <a:ln w="12700">
            <a:solidFill>
              <a:srgbClr val="7C6A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" name="Text 4"/>
          <p:cNvSpPr/>
          <p:nvPr/>
        </p:nvSpPr>
        <p:spPr>
          <a:xfrm>
            <a:off x="530352" y="9326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6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Revolution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0352" y="126187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Claude, GPT-4, Gemini are now cheap enough to embed in every product. The window to build AI-native B2B tools is RIGHT NOW — before incumbents catch up.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822960"/>
            <a:ext cx="4023360" cy="1234440"/>
          </a:xfrm>
          <a:prstGeom prst="rect">
            <a:avLst/>
          </a:prstGeom>
          <a:solidFill>
            <a:srgbClr val="0D0D0D"/>
          </a:solidFill>
          <a:ln w="12700">
            <a:solidFill>
              <a:srgbClr val="34D399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9" name="Shape 7"/>
          <p:cNvSpPr/>
          <p:nvPr/>
        </p:nvSpPr>
        <p:spPr>
          <a:xfrm>
            <a:off x="4663440" y="822960"/>
            <a:ext cx="54864" cy="12344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0" name="Text 8"/>
          <p:cNvSpPr/>
          <p:nvPr/>
        </p:nvSpPr>
        <p:spPr>
          <a:xfrm>
            <a:off x="4828032" y="9326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Uzbekistan Boom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28032" y="126187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grew 6.2% in 2024. The government has an aggressive IT park program with 0% corporate tax. 2.1M businesses need modern tools urgently.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4023360" cy="1234440"/>
          </a:xfrm>
          <a:prstGeom prst="rect">
            <a:avLst/>
          </a:prstGeom>
          <a:solidFill>
            <a:srgbClr val="0D0D0D"/>
          </a:solidFill>
          <a:ln w="12700">
            <a:solidFill>
              <a:srgbClr val="60A5FA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13" name="Shape 11"/>
          <p:cNvSpPr/>
          <p:nvPr/>
        </p:nvSpPr>
        <p:spPr>
          <a:xfrm>
            <a:off x="365760" y="2194560"/>
            <a:ext cx="54864" cy="123444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4" name="Text 12"/>
          <p:cNvSpPr/>
          <p:nvPr/>
        </p:nvSpPr>
        <p:spPr>
          <a:xfrm>
            <a:off x="530352" y="23042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Local Champion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0352" y="263347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Uzbek-built ERP that combines AI + local language + lex.uz compliance + affordable pricing. This market is wide open.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194560"/>
            <a:ext cx="4023360" cy="1234440"/>
          </a:xfrm>
          <a:prstGeom prst="rect">
            <a:avLst/>
          </a:prstGeom>
          <a:solidFill>
            <a:srgbClr val="0D0D0D"/>
          </a:solidFill>
          <a:ln w="12700">
            <a:solidFill>
              <a:srgbClr val="FBBF24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17" name="Shape 15"/>
          <p:cNvSpPr/>
          <p:nvPr/>
        </p:nvSpPr>
        <p:spPr>
          <a:xfrm>
            <a:off x="4663440" y="2194560"/>
            <a:ext cx="54864" cy="12344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8" name="Text 16"/>
          <p:cNvSpPr/>
          <p:nvPr/>
        </p:nvSpPr>
        <p:spPr>
          <a:xfrm>
            <a:off x="4828032" y="23042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Can Execute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28032" y="263347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is already live at benela.dev with 9 modules, real AI, real database, and real users. This is NOT a pitch for a concept.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749040"/>
            <a:ext cx="8412480" cy="1188720"/>
          </a:xfrm>
          <a:prstGeom prst="rect">
            <a:avLst/>
          </a:prstGeom>
          <a:solidFill>
            <a:srgbClr val="4F3DE8"/>
          </a:solidFill>
          <a:ln w="25400">
            <a:solidFill>
              <a:srgbClr val="7C6AFF"/>
            </a:solidFill>
            <a:prstDash val="solid"/>
          </a:ln>
          <a:effectLst>
            <a:outerShdw blurRad="317500" dist="50800" dir="8100000" algn="bl" rotWithShape="0">
              <a:srgbClr val="7C6AFF">
                <a:alpha val="5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21" name="Text 19"/>
          <p:cNvSpPr/>
          <p:nvPr/>
        </p:nvSpPr>
        <p:spPr>
          <a:xfrm>
            <a:off x="502920" y="379476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Central Asia's First AI-Native ERP Together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02920" y="43159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9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benela.dev  ·  shavkat.toshpulotov@gmail.com  ·  Tashkent, Uzbekistan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464515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Asking: $50,000 – $100,000  ·  Equity: Negotiable  ·  Use: Product + Sales + Team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580</TotalTime>
  <Words>1460</Words>
  <Application>Microsoft Macintosh PowerPoint</Application>
  <PresentationFormat>On-screen Show (16:9)</PresentationFormat>
  <Paragraphs>320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SF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Benela AI — Investor Pitch Deck</dc:title>
  <dc:subject>PptxGenJS Presentation</dc:subject>
  <dc:creator>Benela AI</dc:creator>
  <cp:lastModifiedBy>Shavkat Toshpulotov</cp:lastModifiedBy>
  <cp:revision>3</cp:revision>
  <dcterms:created xsi:type="dcterms:W3CDTF">2026-03-07T11:16:29Z</dcterms:created>
  <dcterms:modified xsi:type="dcterms:W3CDTF">2026-03-26T15:57:05Z</dcterms:modified>
</cp:coreProperties>
</file>